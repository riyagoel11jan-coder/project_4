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1" r:id="rId5"/>
    <p:sldId id="263" r:id="rId6"/>
    <p:sldId id="276" r:id="rId7"/>
    <p:sldId id="265" r:id="rId8"/>
    <p:sldId id="268" r:id="rId9"/>
    <p:sldId id="269" r:id="rId10"/>
    <p:sldId id="271" r:id="rId11"/>
    <p:sldId id="272" r:id="rId12"/>
    <p:sldId id="273" r:id="rId13"/>
    <p:sldId id="274" r:id="rId14"/>
    <p:sldId id="277" r:id="rId15"/>
    <p:sldId id="278"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Calibri"/>
              </a:defRPr>
            </a:pPr>
            <a:r>
              <a:rPr lang="en-IN" sz="1100" b="0" i="0" u="none" strike="noStrike">
                <a:solidFill>
                  <a:srgbClr val="1E293B"/>
                </a:solidFill>
                <a:latin typeface="Calibri"/>
              </a:rPr>
              <a:t>R² Score (Higher = Better)</a:t>
            </a:r>
          </a:p>
        </c:rich>
      </c:tx>
      <c:overlay val="0"/>
    </c:title>
    <c:autoTitleDeleted val="0"/>
    <c:plotArea>
      <c:layout/>
      <c:barChart>
        <c:barDir val="col"/>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CADCF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33415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F172A"/>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6.png"/></Relationships>
</file>

<file path=ppt/drawings/_rels/drawing2.xml.rels><?xml version="1.0" encoding="UTF-8" standalone="yes"?>
<Relationships xmlns="http://schemas.openxmlformats.org/package/2006/relationships"><Relationship Id="rId1" Type="http://schemas.openxmlformats.org/officeDocument/2006/relationships/image" Target="../media/image9.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4" name="Picture 3">
          <a:extLst xmlns:a="http://schemas.openxmlformats.org/drawingml/2006/main">
            <a:ext uri="{FF2B5EF4-FFF2-40B4-BE49-F238E27FC236}">
              <a16:creationId xmlns:a16="http://schemas.microsoft.com/office/drawing/2014/main" id="{D932EC65-F5B5-D29F-579C-3DB4981BEDB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12382500" cy="9048750"/>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4" name="Picture 3">
          <a:extLst xmlns:a="http://schemas.openxmlformats.org/drawingml/2006/main">
            <a:ext uri="{FF2B5EF4-FFF2-40B4-BE49-F238E27FC236}">
              <a16:creationId xmlns:a16="http://schemas.microsoft.com/office/drawing/2014/main" id="{C1A7BC88-47A2-AD63-E91C-B9BBBD60ACA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9048750" cy="6667500"/>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478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400800" y="-1371600"/>
            <a:ext cx="4572000" cy="4572000"/>
          </a:xfrm>
          <a:prstGeom prst="ellipse">
            <a:avLst/>
          </a:prstGeom>
          <a:solidFill>
            <a:srgbClr val="1E2761">
              <a:alpha val="60000"/>
            </a:srgbClr>
          </a:solidFill>
          <a:ln/>
        </p:spPr>
        <p:txBody>
          <a:bodyPr/>
          <a:lstStyle/>
          <a:p>
            <a:endParaRPr lang="en-IN"/>
          </a:p>
        </p:txBody>
      </p:sp>
      <p:sp>
        <p:nvSpPr>
          <p:cNvPr id="3" name="Shape 1"/>
          <p:cNvSpPr/>
          <p:nvPr/>
        </p:nvSpPr>
        <p:spPr>
          <a:xfrm>
            <a:off x="7132320" y="-731520"/>
            <a:ext cx="3200400" cy="3200400"/>
          </a:xfrm>
          <a:prstGeom prst="ellipse">
            <a:avLst/>
          </a:prstGeom>
          <a:solidFill>
            <a:srgbClr val="0891B2">
              <a:alpha val="15000"/>
            </a:srgbClr>
          </a:solidFill>
          <a:ln/>
        </p:spPr>
        <p:txBody>
          <a:bodyPr/>
          <a:lstStyle/>
          <a:p>
            <a:endParaRPr lang="en-IN"/>
          </a:p>
        </p:txBody>
      </p:sp>
      <p:sp>
        <p:nvSpPr>
          <p:cNvPr id="4" name="Shape 2"/>
          <p:cNvSpPr/>
          <p:nvPr/>
        </p:nvSpPr>
        <p:spPr>
          <a:xfrm>
            <a:off x="-731520" y="3474720"/>
            <a:ext cx="2743200" cy="2743200"/>
          </a:xfrm>
          <a:prstGeom prst="ellipse">
            <a:avLst/>
          </a:prstGeom>
          <a:solidFill>
            <a:srgbClr val="1E2761">
              <a:alpha val="70000"/>
            </a:srgbClr>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731520" y="548640"/>
            <a:ext cx="594360" cy="594360"/>
          </a:xfrm>
          <a:prstGeom prst="rect">
            <a:avLst/>
          </a:prstGeom>
        </p:spPr>
      </p:pic>
      <p:sp>
        <p:nvSpPr>
          <p:cNvPr id="6" name="Text 3"/>
          <p:cNvSpPr/>
          <p:nvPr/>
        </p:nvSpPr>
        <p:spPr>
          <a:xfrm>
            <a:off x="731520" y="1280160"/>
            <a:ext cx="6400800" cy="1463040"/>
          </a:xfrm>
          <a:prstGeom prst="rect">
            <a:avLst/>
          </a:prstGeom>
          <a:noFill/>
          <a:ln/>
        </p:spPr>
        <p:txBody>
          <a:bodyPr wrap="square" rtlCol="0" anchor="ctr"/>
          <a:lstStyle/>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Smartphone Pricing</a:t>
            </a:r>
            <a:endParaRPr lang="en-US" sz="3800" dirty="0"/>
          </a:p>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Analytics</a:t>
            </a:r>
            <a:endParaRPr lang="en-US" sz="3800" dirty="0"/>
          </a:p>
        </p:txBody>
      </p:sp>
      <p:sp>
        <p:nvSpPr>
          <p:cNvPr id="7" name="Text 4"/>
          <p:cNvSpPr/>
          <p:nvPr/>
        </p:nvSpPr>
        <p:spPr>
          <a:xfrm>
            <a:off x="731520" y="2788920"/>
            <a:ext cx="6858000" cy="868680"/>
          </a:xfrm>
          <a:prstGeom prst="rect">
            <a:avLst/>
          </a:prstGeom>
          <a:noFill/>
          <a:ln/>
        </p:spPr>
        <p:txBody>
          <a:bodyPr wrap="square" rtlCol="0" anchor="ctr"/>
          <a:lstStyle/>
          <a:p>
            <a:pPr marL="0" indent="0" algn="just">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A Comprehensive Study of Market Dynamics, Feature Influence,</a:t>
            </a:r>
            <a:endParaRPr lang="en-US" sz="1250" dirty="0">
              <a:latin typeface="Times New Roman" panose="02020603050405020304" pitchFamily="18" charset="0"/>
              <a:cs typeface="Times New Roman" panose="02020603050405020304" pitchFamily="18" charset="0"/>
            </a:endParaRPr>
          </a:p>
          <a:p>
            <a:pPr marL="0" indent="0" algn="just">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Statistical Validation, Interactive Dashboards,</a:t>
            </a:r>
            <a:endParaRPr lang="en-US" sz="1250" dirty="0">
              <a:latin typeface="Times New Roman" panose="02020603050405020304" pitchFamily="18" charset="0"/>
              <a:cs typeface="Times New Roman" panose="02020603050405020304" pitchFamily="18" charset="0"/>
            </a:endParaRPr>
          </a:p>
          <a:p>
            <a:pPr marL="0" indent="0" algn="just">
              <a:buNone/>
            </a:pPr>
            <a:r>
              <a:rPr lang="en-US" sz="1250" dirty="0">
                <a:solidFill>
                  <a:srgbClr val="CADCFC"/>
                </a:solidFill>
                <a:latin typeface="Times New Roman" panose="02020603050405020304" pitchFamily="18" charset="0"/>
                <a:ea typeface="Calibri" pitchFamily="34" charset="-122"/>
                <a:cs typeface="Times New Roman" panose="02020603050405020304" pitchFamily="18" charset="0"/>
              </a:rPr>
              <a:t>and Machine Learning-Based Price Prediction</a:t>
            </a:r>
            <a:endParaRPr lang="en-US" sz="1250" dirty="0">
              <a:latin typeface="Times New Roman" panose="02020603050405020304" pitchFamily="18" charset="0"/>
              <a:cs typeface="Times New Roman" panose="02020603050405020304" pitchFamily="18" charset="0"/>
            </a:endParaRPr>
          </a:p>
        </p:txBody>
      </p:sp>
      <p:sp>
        <p:nvSpPr>
          <p:cNvPr id="8" name="Shape 5"/>
          <p:cNvSpPr/>
          <p:nvPr/>
        </p:nvSpPr>
        <p:spPr>
          <a:xfrm>
            <a:off x="731520" y="3794760"/>
            <a:ext cx="2286000" cy="0"/>
          </a:xfrm>
          <a:prstGeom prst="line">
            <a:avLst/>
          </a:prstGeom>
          <a:noFill/>
          <a:ln w="25400">
            <a:solidFill>
              <a:srgbClr val="0891B2"/>
            </a:solidFill>
            <a:prstDash val="solid"/>
          </a:ln>
        </p:spPr>
        <p:txBody>
          <a:bodyPr/>
          <a:lstStyle/>
          <a:p>
            <a:endParaRPr lang="en-IN"/>
          </a:p>
        </p:txBody>
      </p:sp>
      <p:sp>
        <p:nvSpPr>
          <p:cNvPr id="9" name="Text 6"/>
          <p:cNvSpPr/>
          <p:nvPr/>
        </p:nvSpPr>
        <p:spPr>
          <a:xfrm>
            <a:off x="731520" y="3931920"/>
            <a:ext cx="45720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Prepared by: Riya Goel</a:t>
            </a:r>
            <a:endParaRPr lang="en-US" sz="1100" dirty="0"/>
          </a:p>
        </p:txBody>
      </p:sp>
      <p:sp>
        <p:nvSpPr>
          <p:cNvPr id="10" name="Text 7"/>
          <p:cNvSpPr/>
          <p:nvPr/>
        </p:nvSpPr>
        <p:spPr>
          <a:xfrm>
            <a:off x="731520" y="4206240"/>
            <a:ext cx="73152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Python  |  Statistical Analysis  |  Data Visualization  |  Machine Learning  |  Predictive Analytics</a:t>
            </a:r>
            <a:endParaRPr lang="en-US" sz="900" dirty="0"/>
          </a:p>
        </p:txBody>
      </p:sp>
      <p:sp>
        <p:nvSpPr>
          <p:cNvPr id="11" name="Text 8"/>
          <p:cNvSpPr/>
          <p:nvPr/>
        </p:nvSpPr>
        <p:spPr>
          <a:xfrm>
            <a:off x="731520" y="4526280"/>
            <a:ext cx="7772400" cy="411480"/>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This project combines exploratory data analysis, statistical hypothesis testing, interactive business intelligence, and advanced machine learning algorithms to decode how hardware specifications, design attributes, and processor technologies collectively determine smartphone market pricing.</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0"/>
            <a:ext cx="7315200" cy="630936"/>
          </a:xfrm>
          <a:prstGeom prst="rect">
            <a:avLst/>
          </a:prstGeom>
          <a:noFill/>
          <a:ln/>
        </p:spPr>
        <p:txBody>
          <a:bodyPr wrap="square" lIns="0" tIns="0" rIns="0" bIns="0" rtlCol="0" anchor="ctr"/>
          <a:lstStyle/>
          <a:p>
            <a:pPr marL="0" indent="0" algn="ctr">
              <a:buNone/>
            </a:pPr>
            <a:r>
              <a:rPr lang="en-US" sz="3200" b="1" dirty="0">
                <a:solidFill>
                  <a:srgbClr val="1E293B"/>
                </a:solidFill>
                <a:latin typeface="Times New Roman" panose="02020603050405020304" pitchFamily="18" charset="0"/>
                <a:ea typeface="Georgia" pitchFamily="34" charset="-122"/>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4" name="Text 2"/>
          <p:cNvSpPr/>
          <p:nvPr/>
        </p:nvSpPr>
        <p:spPr>
          <a:xfrm>
            <a:off x="548640" y="749808"/>
            <a:ext cx="8046720" cy="365760"/>
          </a:xfrm>
          <a:prstGeom prst="rect">
            <a:avLst/>
          </a:prstGeom>
          <a:noFill/>
          <a:ln/>
        </p:spPr>
        <p:txBody>
          <a:bodyPr wrap="square" lIns="0" tIns="0" rIns="0" bIns="0" rtlCol="0" anchor="ctr"/>
          <a:lstStyle/>
          <a:p>
            <a:pPr marL="0" indent="0" algn="just">
              <a:buNone/>
            </a:pPr>
            <a:r>
              <a:rPr lang="en-US" sz="1050" dirty="0">
                <a:solidFill>
                  <a:srgbClr val="64748B"/>
                </a:solidFill>
                <a:latin typeface="Times New Roman" panose="02020603050405020304" pitchFamily="18" charset="0"/>
                <a:ea typeface="Calibri" pitchFamily="34" charset="-122"/>
                <a:cs typeface="Times New Roman" panose="02020603050405020304" pitchFamily="18" charset="0"/>
              </a:rPr>
              <a:t>The global smartphone market is characterized by rapid technological advancements, evolving consumer preferences, and intense competition. Despite abundant specification data, determining how each feature contributes to a device’s market price remains a complex and unresolved challenge for manufacturers, retailers, and consumers alike.</a:t>
            </a:r>
            <a:endParaRPr lang="en-US" sz="105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234440"/>
            <a:ext cx="3931920" cy="34747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57200" y="1234440"/>
            <a:ext cx="3931920" cy="54864"/>
          </a:xfrm>
          <a:prstGeom prst="rect">
            <a:avLst/>
          </a:prstGeom>
          <a:solidFill>
            <a:srgbClr val="0891B2"/>
          </a:solidFill>
          <a:ln/>
        </p:spPr>
        <p:txBody>
          <a:bodyPr/>
          <a:lstStyle/>
          <a:p>
            <a:endParaRPr lang="en-IN"/>
          </a:p>
        </p:txBody>
      </p:sp>
      <p:sp>
        <p:nvSpPr>
          <p:cNvPr id="7" name="Text 5"/>
          <p:cNvSpPr/>
          <p:nvPr/>
        </p:nvSpPr>
        <p:spPr>
          <a:xfrm>
            <a:off x="685800" y="1371600"/>
            <a:ext cx="347472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The Challenge</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685800" y="1783080"/>
            <a:ext cx="3520440" cy="2743200"/>
          </a:xfrm>
          <a:prstGeom prst="rect">
            <a:avLst/>
          </a:prstGeom>
          <a:noFill/>
          <a:ln/>
        </p:spPr>
        <p:txBody>
          <a:bodyPr wrap="square" lIns="0" tIns="0" rIns="0" bIns="0" rtlCol="0" anchor="ctr"/>
          <a:lstStyle/>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Smartphones with seemingly similar configurations often exhibit significant pricing differences due to variations in hardware quality, processor generation, brand positioning, feature combinations, and consumer demand patterns.</a:t>
            </a:r>
            <a:endParaRPr lang="en-US" sz="10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Without a structured analytical approach, it becomes challenging to objectively identify the most influential pricing determinants, assess feature significance, uncover hidden market patterns, and support data-driven pricing decisions across product tiers.</a:t>
            </a:r>
            <a:endParaRPr lang="en-US" sz="10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As the smartphone market continues to evolve with new processor architectures, camera technologies, and storage standards, there is a growing need for predictive systems capable of estimating prices accurately and adapting to newly introduced devices in real time.</a:t>
            </a:r>
            <a:endParaRPr lang="en-US" sz="1000" dirty="0">
              <a:latin typeface="Times New Roman" panose="02020603050405020304" pitchFamily="18" charset="0"/>
              <a:cs typeface="Times New Roman" panose="02020603050405020304" pitchFamily="18" charset="0"/>
            </a:endParaRPr>
          </a:p>
          <a:p>
            <a:pPr marL="342900" indent="-342900" algn="just">
              <a:spcAft>
                <a:spcPts val="4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Manufacturers need pricing intelligence to optimize product portfolios, retailers need it for competitive positioning, and consumers need it to evaluate value-for-money propositions objectively.</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4754880" y="1234440"/>
            <a:ext cx="3931920" cy="347472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4754880" y="1234440"/>
            <a:ext cx="3931920" cy="54864"/>
          </a:xfrm>
          <a:prstGeom prst="rect">
            <a:avLst/>
          </a:prstGeom>
          <a:solidFill>
            <a:srgbClr val="10B981"/>
          </a:solidFill>
          <a:ln/>
        </p:spPr>
        <p:txBody>
          <a:bodyPr/>
          <a:lstStyle/>
          <a:p>
            <a:endParaRPr lang="en-IN"/>
          </a:p>
        </p:txBody>
      </p:sp>
      <p:sp>
        <p:nvSpPr>
          <p:cNvPr id="11" name="Text 9"/>
          <p:cNvSpPr/>
          <p:nvPr/>
        </p:nvSpPr>
        <p:spPr>
          <a:xfrm>
            <a:off x="4983480" y="1289304"/>
            <a:ext cx="3474720" cy="402336"/>
          </a:xfrm>
          <a:prstGeom prst="rect">
            <a:avLst/>
          </a:prstGeom>
          <a:noFill/>
          <a:ln/>
        </p:spPr>
        <p:txBody>
          <a:bodyPr wrap="square" lIns="0" tIns="0" rIns="0" bIns="0" rtlCol="0" anchor="ctr"/>
          <a:lstStyle/>
          <a:p>
            <a:pPr marL="0" indent="0" algn="ctr">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Analytical Approach</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4983480" y="1783080"/>
            <a:ext cx="3520440" cy="2743200"/>
          </a:xfrm>
          <a:prstGeom prst="rect">
            <a:avLst/>
          </a:prstGeom>
          <a:noFill/>
          <a:ln/>
        </p:spPr>
        <p:txBody>
          <a:bodyPr wrap="square" lIns="0" tIns="0" rIns="0" bIns="0" rtlCol="0" anchor="ctr"/>
          <a:lstStyle/>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Statistical analysis using Pearson correlation, Chi-Square tests, ANOVA, and t-tests to validate feature significance and quantify the strength of relationships.</a:t>
            </a:r>
          </a:p>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EDA including univariate, bivariate, and multivariate techniques to uncover distribution patterns, market segmentation, and feature interaction effects across 531 smartphone records.</a:t>
            </a:r>
            <a:endParaRPr lang="en-US" sz="10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Interactive dashboards developed to transform complex analytical outputs into intuitive visualizations, enabling stakeholders to explore market trends and pricing behavior interactively.</a:t>
            </a:r>
            <a:endParaRPr lang="en-US" sz="100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Machine learning models (XGBoost, Gradient Boosting, Random Forest, Decision Tree, Linear Regression, LightGBM) trained and evaluated to establish a reliable, accurate price  prediction system.</a:t>
            </a:r>
            <a:endParaRPr lang="en-US" sz="1000" dirty="0">
              <a:latin typeface="Times New Roman" panose="02020603050405020304" pitchFamily="18" charset="0"/>
              <a:cs typeface="Times New Roman" panose="02020603050405020304" pitchFamily="18" charset="0"/>
            </a:endParaRPr>
          </a:p>
          <a:p>
            <a:pPr marL="342900" indent="-342900" algn="just">
              <a:spcAft>
                <a:spcPts val="400"/>
              </a:spcAft>
              <a:buSzPct val="100000"/>
              <a:buChar char="•"/>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A scalable, future-ready analytical framework designed to incorporate new smartphone data and generate continuous predictive insights as the market evolves.</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0"/>
            <a:ext cx="7315200" cy="603503"/>
          </a:xfrm>
          <a:prstGeom prst="rect">
            <a:avLst/>
          </a:prstGeom>
          <a:noFill/>
          <a:ln/>
        </p:spPr>
        <p:txBody>
          <a:bodyPr wrap="square" lIns="0" tIns="0" rIns="0" bIns="0" rtlCol="0" anchor="ctr"/>
          <a:lstStyle/>
          <a:p>
            <a:pPr marL="0" indent="0" algn="ctr">
              <a:buNone/>
            </a:pPr>
            <a:r>
              <a:rPr lang="en-US" sz="2600" b="1" dirty="0">
                <a:solidFill>
                  <a:srgbClr val="FFFFFF"/>
                </a:solidFill>
                <a:latin typeface="Times New Roman" panose="02020603050405020304" pitchFamily="18" charset="0"/>
                <a:ea typeface="Georgia" pitchFamily="34" charset="-122"/>
                <a:cs typeface="Times New Roman" panose="02020603050405020304" pitchFamily="18" charset="0"/>
              </a:rPr>
              <a:t>Project Objectives</a:t>
            </a:r>
            <a:endParaRPr lang="en-US" sz="2600" dirty="0">
              <a:latin typeface="Times New Roman" panose="02020603050405020304" pitchFamily="18" charset="0"/>
              <a:cs typeface="Times New Roman" panose="02020603050405020304" pitchFamily="18" charset="0"/>
            </a:endParaRPr>
          </a:p>
        </p:txBody>
      </p:sp>
      <p:sp>
        <p:nvSpPr>
          <p:cNvPr id="3" name="Shape 1"/>
          <p:cNvSpPr/>
          <p:nvPr/>
        </p:nvSpPr>
        <p:spPr>
          <a:xfrm>
            <a:off x="548640" y="603503"/>
            <a:ext cx="1828800" cy="0"/>
          </a:xfrm>
          <a:prstGeom prst="line">
            <a:avLst/>
          </a:prstGeom>
          <a:noFill/>
          <a:ln w="25400">
            <a:solidFill>
              <a:srgbClr val="0891B2"/>
            </a:solidFill>
            <a:prstDash val="solid"/>
          </a:ln>
        </p:spPr>
        <p:txBody>
          <a:bodyPr/>
          <a:lstStyle/>
          <a:p>
            <a:endParaRPr lang="en-IN"/>
          </a:p>
        </p:txBody>
      </p:sp>
      <p:sp>
        <p:nvSpPr>
          <p:cNvPr id="4" name="Text 2"/>
          <p:cNvSpPr/>
          <p:nvPr/>
        </p:nvSpPr>
        <p:spPr>
          <a:xfrm>
            <a:off x="548640" y="603503"/>
            <a:ext cx="8046720" cy="539497"/>
          </a:xfrm>
          <a:prstGeom prst="rect">
            <a:avLst/>
          </a:prstGeom>
          <a:noFill/>
          <a:ln/>
        </p:spPr>
        <p:txBody>
          <a:bodyPr wrap="square" lIns="0" tIns="0" rIns="0" bIns="0" rtlCol="0" anchor="ctr"/>
          <a:lstStyle/>
          <a:p>
            <a:pPr marL="0" indent="0" algn="just">
              <a:buNone/>
            </a:pP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The primary objective is to develop a comprehensive analytical framework for understanding smartphone pricing behavior and building a reliable machine learning system capable of predicting prices based on device specifications.</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5" name="Shape 3"/>
          <p:cNvSpPr/>
          <p:nvPr/>
        </p:nvSpPr>
        <p:spPr>
          <a:xfrm>
            <a:off x="457200" y="1252728"/>
            <a:ext cx="292608" cy="292608"/>
          </a:xfrm>
          <a:prstGeom prst="ellipse">
            <a:avLst/>
          </a:prstGeom>
          <a:solidFill>
            <a:srgbClr val="0891B2"/>
          </a:solidFill>
          <a:ln/>
        </p:spPr>
        <p:txBody>
          <a:bodyPr/>
          <a:lstStyle/>
          <a:p>
            <a:endParaRPr lang="en-IN"/>
          </a:p>
        </p:txBody>
      </p:sp>
      <p:sp>
        <p:nvSpPr>
          <p:cNvPr id="6" name="Text 4"/>
          <p:cNvSpPr/>
          <p:nvPr/>
        </p:nvSpPr>
        <p:spPr>
          <a:xfrm>
            <a:off x="457200" y="12527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868680" y="1234440"/>
            <a:ext cx="2286000" cy="329184"/>
          </a:xfrm>
          <a:prstGeom prst="rect">
            <a:avLst/>
          </a:prstGeom>
          <a:noFill/>
          <a:ln/>
        </p:spPr>
        <p:txBody>
          <a:bodyPr wrap="square" lIns="0" tIns="0" rIns="0" bIns="0" rtlCol="0" anchor="ctr"/>
          <a:lstStyle/>
          <a:p>
            <a:pPr marL="0" indent="0" algn="just">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Data Exploration &amp; Assessment</a:t>
            </a: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3200400" y="1234440"/>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Understand the structure, characteristics, and quality of the smartphone dataset through detailed exploration of 531 records across all features, identifying data types, distributions, and potential preprocessing requirements.</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457200" y="1728216"/>
            <a:ext cx="292608" cy="292608"/>
          </a:xfrm>
          <a:prstGeom prst="ellipse">
            <a:avLst/>
          </a:prstGeom>
          <a:solidFill>
            <a:srgbClr val="0891B2"/>
          </a:solidFill>
          <a:ln/>
        </p:spPr>
        <p:txBody>
          <a:bodyPr/>
          <a:lstStyle/>
          <a:p>
            <a:endParaRPr lang="en-IN"/>
          </a:p>
        </p:txBody>
      </p:sp>
      <p:sp>
        <p:nvSpPr>
          <p:cNvPr id="10" name="Text 8"/>
          <p:cNvSpPr/>
          <p:nvPr/>
        </p:nvSpPr>
        <p:spPr>
          <a:xfrm>
            <a:off x="457200" y="17282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Text 9"/>
          <p:cNvSpPr/>
          <p:nvPr/>
        </p:nvSpPr>
        <p:spPr>
          <a:xfrm>
            <a:off x="868680" y="1709928"/>
            <a:ext cx="2286000" cy="329184"/>
          </a:xfrm>
          <a:prstGeom prst="rect">
            <a:avLst/>
          </a:prstGeom>
          <a:noFill/>
          <a:ln/>
        </p:spPr>
        <p:txBody>
          <a:bodyPr wrap="square" lIns="0" tIns="0" rIns="0" bIns="0" rtlCol="0" anchor="ctr"/>
          <a:lstStyle/>
          <a:p>
            <a:pPr marL="0" indent="0" algn="just">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Feature Influence Investigation</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3200400" y="1709928"/>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Investigate how technical specifications—RAM, storage capacity, battery performance, processor technology, and camera capabilities—contribute to price differentiation within the smartphone market.</a:t>
            </a:r>
            <a:endParaRPr lang="en-US" sz="1000" dirty="0">
              <a:latin typeface="Times New Roman" panose="02020603050405020304" pitchFamily="18" charset="0"/>
              <a:cs typeface="Times New Roman" panose="02020603050405020304" pitchFamily="18" charset="0"/>
            </a:endParaRPr>
          </a:p>
        </p:txBody>
      </p:sp>
      <p:sp>
        <p:nvSpPr>
          <p:cNvPr id="13" name="Shape 11"/>
          <p:cNvSpPr/>
          <p:nvPr/>
        </p:nvSpPr>
        <p:spPr>
          <a:xfrm>
            <a:off x="457200" y="2203704"/>
            <a:ext cx="292608" cy="292608"/>
          </a:xfrm>
          <a:prstGeom prst="ellipse">
            <a:avLst/>
          </a:prstGeom>
          <a:solidFill>
            <a:srgbClr val="0891B2"/>
          </a:solidFill>
          <a:ln/>
        </p:spPr>
        <p:txBody>
          <a:bodyPr/>
          <a:lstStyle/>
          <a:p>
            <a:endParaRPr lang="en-IN"/>
          </a:p>
        </p:txBody>
      </p:sp>
      <p:sp>
        <p:nvSpPr>
          <p:cNvPr id="14" name="Text 12"/>
          <p:cNvSpPr/>
          <p:nvPr/>
        </p:nvSpPr>
        <p:spPr>
          <a:xfrm>
            <a:off x="457200" y="22037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Text 13"/>
          <p:cNvSpPr/>
          <p:nvPr/>
        </p:nvSpPr>
        <p:spPr>
          <a:xfrm>
            <a:off x="868680" y="2185416"/>
            <a:ext cx="2286000" cy="329184"/>
          </a:xfrm>
          <a:prstGeom prst="rect">
            <a:avLst/>
          </a:prstGeom>
          <a:noFill/>
          <a:ln/>
        </p:spPr>
        <p:txBody>
          <a:bodyPr wrap="square" lIns="0" tIns="0" rIns="0" bIns="0" rtlCol="0" anchor="ctr"/>
          <a:lstStyle/>
          <a:p>
            <a:pPr marL="0" indent="0" algn="just">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Design &amp; Market Impact Analysis</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3200400" y="2185416"/>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Evaluate the impact of design-oriented attributes including color variants (275 unique values), AI Lens presence, and mobile form factor on consumer value perception and pricing trends.</a:t>
            </a:r>
            <a:endParaRPr lang="en-US" sz="1000" dirty="0">
              <a:latin typeface="Times New Roman" panose="02020603050405020304" pitchFamily="18" charset="0"/>
              <a:cs typeface="Times New Roman" panose="02020603050405020304" pitchFamily="18" charset="0"/>
            </a:endParaRPr>
          </a:p>
        </p:txBody>
      </p:sp>
      <p:sp>
        <p:nvSpPr>
          <p:cNvPr id="17" name="Shape 15"/>
          <p:cNvSpPr/>
          <p:nvPr/>
        </p:nvSpPr>
        <p:spPr>
          <a:xfrm>
            <a:off x="457200" y="2679192"/>
            <a:ext cx="292608" cy="292608"/>
          </a:xfrm>
          <a:prstGeom prst="ellipse">
            <a:avLst/>
          </a:prstGeom>
          <a:solidFill>
            <a:srgbClr val="0891B2"/>
          </a:solidFill>
          <a:ln/>
        </p:spPr>
        <p:txBody>
          <a:bodyPr/>
          <a:lstStyle/>
          <a:p>
            <a:endParaRPr lang="en-IN"/>
          </a:p>
        </p:txBody>
      </p:sp>
      <p:sp>
        <p:nvSpPr>
          <p:cNvPr id="18" name="Text 16"/>
          <p:cNvSpPr/>
          <p:nvPr/>
        </p:nvSpPr>
        <p:spPr>
          <a:xfrm>
            <a:off x="457200" y="267919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9" name="Text 17"/>
          <p:cNvSpPr/>
          <p:nvPr/>
        </p:nvSpPr>
        <p:spPr>
          <a:xfrm>
            <a:off x="868680" y="2660904"/>
            <a:ext cx="22860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Statistical Validation</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3200400" y="2660904"/>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Validate feature significance through Pearson/Spearman correlation, Shapiro-Wilk normality testing, Chi-Square independence tests, one-way ANOVA, and independent samples t-tests at 95% confidence level.</a:t>
            </a:r>
            <a:endParaRPr lang="en-US" sz="1000" dirty="0">
              <a:latin typeface="Times New Roman" panose="02020603050405020304" pitchFamily="18" charset="0"/>
              <a:cs typeface="Times New Roman" panose="02020603050405020304" pitchFamily="18" charset="0"/>
            </a:endParaRPr>
          </a:p>
        </p:txBody>
      </p:sp>
      <p:sp>
        <p:nvSpPr>
          <p:cNvPr id="21" name="Shape 19"/>
          <p:cNvSpPr/>
          <p:nvPr/>
        </p:nvSpPr>
        <p:spPr>
          <a:xfrm>
            <a:off x="457200" y="3154680"/>
            <a:ext cx="292608" cy="292608"/>
          </a:xfrm>
          <a:prstGeom prst="ellipse">
            <a:avLst/>
          </a:prstGeom>
          <a:solidFill>
            <a:srgbClr val="0891B2"/>
          </a:solidFill>
          <a:ln/>
        </p:spPr>
        <p:txBody>
          <a:bodyPr/>
          <a:lstStyle/>
          <a:p>
            <a:endParaRPr lang="en-IN"/>
          </a:p>
        </p:txBody>
      </p:sp>
      <p:sp>
        <p:nvSpPr>
          <p:cNvPr id="22" name="Text 20"/>
          <p:cNvSpPr/>
          <p:nvPr/>
        </p:nvSpPr>
        <p:spPr>
          <a:xfrm>
            <a:off x="457200" y="315468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868680" y="3136392"/>
            <a:ext cx="22860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Univariate, Bivariate &amp; Multivariate Analysis</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3200400" y="3136392"/>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Conduct comprehensive analysis at single-variable, pairwise, and multi-feature levels to uncover distribution patterns, correlation structures, interaction effects, and hidden market segments.</a:t>
            </a:r>
            <a:endParaRPr lang="en-US" sz="1000" dirty="0">
              <a:latin typeface="Times New Roman" panose="02020603050405020304" pitchFamily="18" charset="0"/>
              <a:cs typeface="Times New Roman" panose="02020603050405020304" pitchFamily="18" charset="0"/>
            </a:endParaRPr>
          </a:p>
        </p:txBody>
      </p:sp>
      <p:sp>
        <p:nvSpPr>
          <p:cNvPr id="25" name="Shape 23"/>
          <p:cNvSpPr/>
          <p:nvPr/>
        </p:nvSpPr>
        <p:spPr>
          <a:xfrm>
            <a:off x="457200" y="3630168"/>
            <a:ext cx="292608" cy="292608"/>
          </a:xfrm>
          <a:prstGeom prst="ellipse">
            <a:avLst/>
          </a:prstGeom>
          <a:solidFill>
            <a:srgbClr val="0891B2"/>
          </a:solidFill>
          <a:ln/>
        </p:spPr>
        <p:txBody>
          <a:bodyPr/>
          <a:lstStyle/>
          <a:p>
            <a:endParaRPr lang="en-IN"/>
          </a:p>
        </p:txBody>
      </p:sp>
      <p:sp>
        <p:nvSpPr>
          <p:cNvPr id="26" name="Text 24"/>
          <p:cNvSpPr/>
          <p:nvPr/>
        </p:nvSpPr>
        <p:spPr>
          <a:xfrm>
            <a:off x="457200" y="363016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7" name="Text 25"/>
          <p:cNvSpPr/>
          <p:nvPr/>
        </p:nvSpPr>
        <p:spPr>
          <a:xfrm>
            <a:off x="868680" y="3611880"/>
            <a:ext cx="22860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Interactive Dashboard Development</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3200400" y="3611880"/>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Develop interactive business intelligence dashboards that transform raw analytical data into intuitive visualizations, enabling data-driven decision-making for market analysis and product positioning.</a:t>
            </a:r>
            <a:endParaRPr lang="en-US" sz="1000" dirty="0">
              <a:latin typeface="Times New Roman" panose="02020603050405020304" pitchFamily="18" charset="0"/>
              <a:cs typeface="Times New Roman" panose="02020603050405020304" pitchFamily="18" charset="0"/>
            </a:endParaRPr>
          </a:p>
        </p:txBody>
      </p:sp>
      <p:sp>
        <p:nvSpPr>
          <p:cNvPr id="29" name="Shape 27"/>
          <p:cNvSpPr/>
          <p:nvPr/>
        </p:nvSpPr>
        <p:spPr>
          <a:xfrm>
            <a:off x="457200" y="4105656"/>
            <a:ext cx="292608" cy="292608"/>
          </a:xfrm>
          <a:prstGeom prst="ellipse">
            <a:avLst/>
          </a:prstGeom>
          <a:solidFill>
            <a:srgbClr val="0891B2"/>
          </a:solidFill>
          <a:ln/>
        </p:spPr>
        <p:txBody>
          <a:bodyPr/>
          <a:lstStyle/>
          <a:p>
            <a:endParaRPr lang="en-IN"/>
          </a:p>
        </p:txBody>
      </p:sp>
      <p:sp>
        <p:nvSpPr>
          <p:cNvPr id="30" name="Text 28"/>
          <p:cNvSpPr/>
          <p:nvPr/>
        </p:nvSpPr>
        <p:spPr>
          <a:xfrm>
            <a:off x="457200" y="41056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1" name="Text 29"/>
          <p:cNvSpPr/>
          <p:nvPr/>
        </p:nvSpPr>
        <p:spPr>
          <a:xfrm>
            <a:off x="868680" y="4087368"/>
            <a:ext cx="228600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Machine Learning Model Development</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3200400" y="4087368"/>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Build, compare, and evaluate 6 ML models (XGBoost, Gradient Boosting, Random Forest, Decision Tree, Linear Regression, LightGBM) using R², RMSE, MAE, and MAPE metrics for price prediction.</a:t>
            </a:r>
            <a:endParaRPr lang="en-US" sz="1000" dirty="0">
              <a:latin typeface="Times New Roman" panose="02020603050405020304" pitchFamily="18" charset="0"/>
              <a:cs typeface="Times New Roman" panose="02020603050405020304" pitchFamily="18" charset="0"/>
            </a:endParaRPr>
          </a:p>
        </p:txBody>
      </p:sp>
      <p:sp>
        <p:nvSpPr>
          <p:cNvPr id="33" name="Shape 31"/>
          <p:cNvSpPr/>
          <p:nvPr/>
        </p:nvSpPr>
        <p:spPr>
          <a:xfrm>
            <a:off x="457200" y="4581144"/>
            <a:ext cx="292608" cy="292608"/>
          </a:xfrm>
          <a:prstGeom prst="ellipse">
            <a:avLst/>
          </a:prstGeom>
          <a:solidFill>
            <a:srgbClr val="0891B2"/>
          </a:solidFill>
          <a:ln/>
        </p:spPr>
        <p:txBody>
          <a:bodyPr/>
          <a:lstStyle/>
          <a:p>
            <a:endParaRPr lang="en-IN"/>
          </a:p>
        </p:txBody>
      </p:sp>
      <p:sp>
        <p:nvSpPr>
          <p:cNvPr id="34" name="Text 32"/>
          <p:cNvSpPr/>
          <p:nvPr/>
        </p:nvSpPr>
        <p:spPr>
          <a:xfrm>
            <a:off x="457200" y="45811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35" name="Text 33"/>
          <p:cNvSpPr/>
          <p:nvPr/>
        </p:nvSpPr>
        <p:spPr>
          <a:xfrm>
            <a:off x="868680" y="4562856"/>
            <a:ext cx="2286000" cy="329184"/>
          </a:xfrm>
          <a:prstGeom prst="rect">
            <a:avLst/>
          </a:prstGeom>
          <a:noFill/>
          <a:ln/>
        </p:spPr>
        <p:txBody>
          <a:bodyPr wrap="square" lIns="0" tIns="0" rIns="0" bIns="0" rtlCol="0" anchor="ctr"/>
          <a:lstStyle/>
          <a:p>
            <a:pPr marL="0" indent="0" algn="just">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Scalable Framework Design</a:t>
            </a:r>
            <a:endParaRPr lang="en-US" sz="1200" dirty="0">
              <a:latin typeface="Times New Roman" panose="02020603050405020304" pitchFamily="18" charset="0"/>
              <a:cs typeface="Times New Roman" panose="02020603050405020304" pitchFamily="18" charset="0"/>
            </a:endParaRPr>
          </a:p>
        </p:txBody>
      </p:sp>
      <p:sp>
        <p:nvSpPr>
          <p:cNvPr id="36" name="Text 34"/>
          <p:cNvSpPr/>
          <p:nvPr/>
        </p:nvSpPr>
        <p:spPr>
          <a:xfrm>
            <a:off x="3200400" y="4562856"/>
            <a:ext cx="548640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Design a future-ready analytical framework capable of incorporating newly available smartphone data, supporting continuous model retraining, and generating scalable predictive insights for evolving markets.</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0"/>
            <a:ext cx="7315200" cy="612648"/>
          </a:xfrm>
          <a:prstGeom prst="rect">
            <a:avLst/>
          </a:prstGeom>
          <a:noFill/>
          <a:ln/>
        </p:spPr>
        <p:txBody>
          <a:bodyPr wrap="square" lIns="0" tIns="0" rIns="0" bIns="0" rtlCol="0" anchor="ctr"/>
          <a:lstStyle/>
          <a:p>
            <a:pPr marL="0" indent="0" algn="ctr">
              <a:buNone/>
            </a:pPr>
            <a:r>
              <a:rPr lang="en-US" sz="2600" b="1" dirty="0">
                <a:solidFill>
                  <a:srgbClr val="1E293B"/>
                </a:solidFill>
                <a:latin typeface="Times New Roman" panose="02020603050405020304" pitchFamily="18" charset="0"/>
                <a:ea typeface="Georgia" pitchFamily="34" charset="-122"/>
                <a:cs typeface="Times New Roman" panose="02020603050405020304" pitchFamily="18" charset="0"/>
              </a:rPr>
              <a:t>Data Quality Assessment</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548640" y="566928"/>
            <a:ext cx="8046720" cy="530352"/>
          </a:xfrm>
          <a:prstGeom prst="rect">
            <a:avLst/>
          </a:prstGeom>
          <a:noFill/>
          <a:ln/>
        </p:spPr>
        <p:txBody>
          <a:bodyPr wrap="square" lIns="0" tIns="0" rIns="0" bIns="0" rtlCol="0" anchor="ctr"/>
          <a:lstStyle/>
          <a:p>
            <a:pPr marL="0" indent="0" algn="just">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Data quality assessment ensures the dataset is complete, consistent, accurate, and suitable for reliable statistical analysis and machine learning. Poor data quality can lead to misleading insights, unreliable models, and inaccurate business decisions.</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188720"/>
            <a:ext cx="3931920" cy="1828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57200" y="1188720"/>
            <a:ext cx="3931920" cy="54864"/>
          </a:xfrm>
          <a:prstGeom prst="rect">
            <a:avLst/>
          </a:prstGeom>
          <a:solidFill>
            <a:srgbClr val="0891B2"/>
          </a:solidFill>
          <a:ln/>
        </p:spPr>
        <p:txBody>
          <a:bodyPr/>
          <a:lstStyle/>
          <a:p>
            <a:endParaRPr lang="en-IN"/>
          </a:p>
        </p:txBody>
      </p:sp>
      <p:sp>
        <p:nvSpPr>
          <p:cNvPr id="7" name="Text 5"/>
          <p:cNvSpPr/>
          <p:nvPr/>
        </p:nvSpPr>
        <p:spPr>
          <a:xfrm>
            <a:off x="685800" y="1325880"/>
            <a:ext cx="347472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Times New Roman" panose="02020603050405020304" pitchFamily="18" charset="0"/>
                <a:ea typeface="Calibri" pitchFamily="34" charset="-122"/>
                <a:cs typeface="Times New Roman" panose="02020603050405020304" pitchFamily="18" charset="0"/>
              </a:rPr>
              <a:t>Data Type Distribution</a:t>
            </a:r>
            <a:endParaRPr lang="en-US" sz="1200" dirty="0">
              <a:latin typeface="Times New Roman" panose="02020603050405020304" pitchFamily="18" charset="0"/>
              <a:cs typeface="Times New Roman" panose="02020603050405020304" pitchFamily="18" charset="0"/>
            </a:endParaRPr>
          </a:p>
        </p:txBody>
      </p:sp>
      <p:graphicFrame>
        <p:nvGraphicFramePr>
          <p:cNvPr id="8" name="Table 0"/>
          <p:cNvGraphicFramePr>
            <a:graphicFrameLocks noGrp="1"/>
          </p:cNvGraphicFramePr>
          <p:nvPr>
            <p:extLst>
              <p:ext uri="{D42A27DB-BD31-4B8C-83A1-F6EECF244321}">
                <p14:modId xmlns:p14="http://schemas.microsoft.com/office/powerpoint/2010/main" val="356235025"/>
              </p:ext>
            </p:extLst>
          </p:nvPr>
        </p:nvGraphicFramePr>
        <p:xfrm>
          <a:off x="685800" y="1691640"/>
          <a:ext cx="3474720" cy="1280160"/>
        </p:xfrm>
        <a:graphic>
          <a:graphicData uri="http://schemas.openxmlformats.org/drawingml/2006/table">
            <a:tbl>
              <a:tblPr/>
              <a:tblGrid>
                <a:gridCol w="10972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28600">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Data Type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Count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Features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String (Object)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Model, Colour, Camera, Processor, Price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Integer (int64)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Memory, RAM, Battery, AI Lens, Index</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Float (float64)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Mobile Height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4754880" y="1188720"/>
            <a:ext cx="3931920" cy="1828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0" name="Shape 7"/>
          <p:cNvSpPr/>
          <p:nvPr/>
        </p:nvSpPr>
        <p:spPr>
          <a:xfrm>
            <a:off x="4754880" y="1188720"/>
            <a:ext cx="3931920" cy="54864"/>
          </a:xfrm>
          <a:prstGeom prst="rect">
            <a:avLst/>
          </a:prstGeom>
          <a:solidFill>
            <a:srgbClr val="10B981"/>
          </a:solidFill>
          <a:ln/>
        </p:spPr>
        <p:txBody>
          <a:bodyPr/>
          <a:lstStyle/>
          <a:p>
            <a:endParaRPr lang="en-IN"/>
          </a:p>
        </p:txBody>
      </p:sp>
      <p:sp>
        <p:nvSpPr>
          <p:cNvPr id="11" name="Text 8"/>
          <p:cNvSpPr/>
          <p:nvPr/>
        </p:nvSpPr>
        <p:spPr>
          <a:xfrm>
            <a:off x="4983480" y="1325880"/>
            <a:ext cx="3474720" cy="274320"/>
          </a:xfrm>
          <a:prstGeom prst="rect">
            <a:avLst/>
          </a:prstGeom>
          <a:noFill/>
          <a:ln/>
        </p:spPr>
        <p:txBody>
          <a:bodyPr wrap="square" lIns="0" tIns="0" rIns="0" bIns="0" rtlCol="0" anchor="ctr"/>
          <a:lstStyle/>
          <a:p>
            <a:pPr marL="0" indent="0" algn="ctr">
              <a:buNone/>
            </a:pPr>
            <a:r>
              <a:rPr lang="en-US" sz="1200" b="1" dirty="0">
                <a:solidFill>
                  <a:srgbClr val="1E293B"/>
                </a:solidFill>
                <a:latin typeface="Times New Roman" panose="02020603050405020304" pitchFamily="18" charset="0"/>
                <a:ea typeface="Calibri" pitchFamily="34" charset="-122"/>
                <a:cs typeface="Times New Roman" panose="02020603050405020304" pitchFamily="18" charset="0"/>
              </a:rPr>
              <a:t>Quality Checks (All Passed)</a:t>
            </a:r>
            <a:endParaRPr lang="en-US" sz="1200" dirty="0">
              <a:latin typeface="Times New Roman" panose="02020603050405020304" pitchFamily="18" charset="0"/>
              <a:cs typeface="Times New Roman" panose="02020603050405020304" pitchFamily="18" charset="0"/>
            </a:endParaRPr>
          </a:p>
        </p:txBody>
      </p:sp>
      <p:pic>
        <p:nvPicPr>
          <p:cNvPr id="12" name="Image 0" descr="preencoded.png"/>
          <p:cNvPicPr>
            <a:picLocks noChangeAspect="1"/>
          </p:cNvPicPr>
          <p:nvPr/>
        </p:nvPicPr>
        <p:blipFill>
          <a:blip r:embed="rId3"/>
          <a:stretch>
            <a:fillRect/>
          </a:stretch>
        </p:blipFill>
        <p:spPr>
          <a:xfrm>
            <a:off x="4983480" y="1709928"/>
            <a:ext cx="182880" cy="182880"/>
          </a:xfrm>
          <a:prstGeom prst="rect">
            <a:avLst/>
          </a:prstGeom>
        </p:spPr>
      </p:pic>
      <p:sp>
        <p:nvSpPr>
          <p:cNvPr id="13" name="Text 9"/>
          <p:cNvSpPr/>
          <p:nvPr/>
        </p:nvSpPr>
        <p:spPr>
          <a:xfrm>
            <a:off x="5230368" y="1691640"/>
            <a:ext cx="1645920" cy="228600"/>
          </a:xfrm>
          <a:prstGeom prst="rect">
            <a:avLst/>
          </a:prstGeom>
          <a:noFill/>
          <a:ln/>
        </p:spPr>
        <p:txBody>
          <a:bodyPr wrap="square" lIns="0" tIns="0" rIns="0" bIns="0" rtlCol="0" anchor="ctr"/>
          <a:lstStyle/>
          <a:p>
            <a:pPr marL="0" indent="0">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Missing Values</a:t>
            </a:r>
            <a:endParaRPr lang="en-US" sz="1000" dirty="0">
              <a:latin typeface="Times New Roman" panose="02020603050405020304" pitchFamily="18" charset="0"/>
              <a:cs typeface="Times New Roman" panose="02020603050405020304" pitchFamily="18" charset="0"/>
            </a:endParaRPr>
          </a:p>
        </p:txBody>
      </p:sp>
      <p:sp>
        <p:nvSpPr>
          <p:cNvPr id="14" name="Text 10"/>
          <p:cNvSpPr/>
          <p:nvPr/>
        </p:nvSpPr>
        <p:spPr>
          <a:xfrm>
            <a:off x="6903720" y="1691640"/>
            <a:ext cx="1691640" cy="228600"/>
          </a:xfrm>
          <a:prstGeom prst="rect">
            <a:avLst/>
          </a:prstGeom>
          <a:noFill/>
          <a:ln/>
        </p:spPr>
        <p:txBody>
          <a:bodyPr wrap="square" lIns="0" tIns="0" rIns="0" bIns="0" rtlCol="0" anchor="ctr"/>
          <a:lstStyle/>
          <a:p>
            <a:pPr marL="0" indent="0">
              <a:buNone/>
            </a:pPr>
            <a:r>
              <a:rPr lang="en-US" sz="1000" dirty="0">
                <a:solidFill>
                  <a:srgbClr val="10B981"/>
                </a:solidFill>
                <a:latin typeface="Times New Roman" panose="02020603050405020304" pitchFamily="18" charset="0"/>
                <a:ea typeface="Calibri" pitchFamily="34" charset="-122"/>
                <a:cs typeface="Times New Roman" panose="02020603050405020304" pitchFamily="18" charset="0"/>
              </a:rPr>
              <a:t>0 (0.00% across all 12 features)</a:t>
            </a:r>
            <a:endParaRPr lang="en-US" sz="1000" dirty="0">
              <a:latin typeface="Times New Roman" panose="02020603050405020304" pitchFamily="18" charset="0"/>
              <a:cs typeface="Times New Roman" panose="02020603050405020304" pitchFamily="18" charset="0"/>
            </a:endParaRPr>
          </a:p>
        </p:txBody>
      </p:sp>
      <p:pic>
        <p:nvPicPr>
          <p:cNvPr id="15" name="Image 1" descr="preencoded.png"/>
          <p:cNvPicPr>
            <a:picLocks noChangeAspect="1"/>
          </p:cNvPicPr>
          <p:nvPr/>
        </p:nvPicPr>
        <p:blipFill>
          <a:blip r:embed="rId3"/>
          <a:stretch>
            <a:fillRect/>
          </a:stretch>
        </p:blipFill>
        <p:spPr>
          <a:xfrm>
            <a:off x="4983480" y="1965960"/>
            <a:ext cx="182880" cy="182880"/>
          </a:xfrm>
          <a:prstGeom prst="rect">
            <a:avLst/>
          </a:prstGeom>
        </p:spPr>
      </p:pic>
      <p:sp>
        <p:nvSpPr>
          <p:cNvPr id="16" name="Text 11"/>
          <p:cNvSpPr/>
          <p:nvPr/>
        </p:nvSpPr>
        <p:spPr>
          <a:xfrm>
            <a:off x="5230368" y="1947672"/>
            <a:ext cx="1645920" cy="228600"/>
          </a:xfrm>
          <a:prstGeom prst="rect">
            <a:avLst/>
          </a:prstGeom>
          <a:noFill/>
          <a:ln/>
        </p:spPr>
        <p:txBody>
          <a:bodyPr wrap="square" lIns="0" tIns="0" rIns="0" bIns="0" rtlCol="0" anchor="ctr"/>
          <a:lstStyle/>
          <a:p>
            <a:pPr marL="0" indent="0">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Duplicate Records</a:t>
            </a:r>
            <a:endParaRPr lang="en-US" sz="1000" dirty="0">
              <a:latin typeface="Times New Roman" panose="02020603050405020304" pitchFamily="18" charset="0"/>
              <a:cs typeface="Times New Roman" panose="02020603050405020304" pitchFamily="18" charset="0"/>
            </a:endParaRPr>
          </a:p>
        </p:txBody>
      </p:sp>
      <p:sp>
        <p:nvSpPr>
          <p:cNvPr id="17" name="Text 12"/>
          <p:cNvSpPr/>
          <p:nvPr/>
        </p:nvSpPr>
        <p:spPr>
          <a:xfrm>
            <a:off x="6903720" y="1947672"/>
            <a:ext cx="1691640" cy="228600"/>
          </a:xfrm>
          <a:prstGeom prst="rect">
            <a:avLst/>
          </a:prstGeom>
          <a:noFill/>
          <a:ln/>
        </p:spPr>
        <p:txBody>
          <a:bodyPr wrap="square" lIns="0" tIns="0" rIns="0" bIns="0" rtlCol="0" anchor="ctr"/>
          <a:lstStyle/>
          <a:p>
            <a:pPr marL="0" indent="0">
              <a:buNone/>
            </a:pPr>
            <a:r>
              <a:rPr lang="en-US" sz="1000" dirty="0">
                <a:solidFill>
                  <a:srgbClr val="10B981"/>
                </a:solidFill>
                <a:latin typeface="Times New Roman" panose="02020603050405020304" pitchFamily="18" charset="0"/>
                <a:ea typeface="Calibri" pitchFamily="34" charset="-122"/>
                <a:cs typeface="Times New Roman" panose="02020603050405020304" pitchFamily="18" charset="0"/>
              </a:rPr>
              <a:t>0 unique records confirmed</a:t>
            </a:r>
            <a:endParaRPr lang="en-US" sz="1000" dirty="0">
              <a:latin typeface="Times New Roman" panose="02020603050405020304" pitchFamily="18" charset="0"/>
              <a:cs typeface="Times New Roman" panose="02020603050405020304" pitchFamily="18" charset="0"/>
            </a:endParaRPr>
          </a:p>
        </p:txBody>
      </p:sp>
      <p:pic>
        <p:nvPicPr>
          <p:cNvPr id="18" name="Image 2" descr="preencoded.png"/>
          <p:cNvPicPr>
            <a:picLocks noChangeAspect="1"/>
          </p:cNvPicPr>
          <p:nvPr/>
        </p:nvPicPr>
        <p:blipFill>
          <a:blip r:embed="rId3"/>
          <a:stretch>
            <a:fillRect/>
          </a:stretch>
        </p:blipFill>
        <p:spPr>
          <a:xfrm>
            <a:off x="4983480" y="2221992"/>
            <a:ext cx="182880" cy="182880"/>
          </a:xfrm>
          <a:prstGeom prst="rect">
            <a:avLst/>
          </a:prstGeom>
        </p:spPr>
      </p:pic>
      <p:sp>
        <p:nvSpPr>
          <p:cNvPr id="19" name="Text 13"/>
          <p:cNvSpPr/>
          <p:nvPr/>
        </p:nvSpPr>
        <p:spPr>
          <a:xfrm>
            <a:off x="5230368" y="2203704"/>
            <a:ext cx="1645920" cy="228600"/>
          </a:xfrm>
          <a:prstGeom prst="rect">
            <a:avLst/>
          </a:prstGeom>
          <a:noFill/>
          <a:ln/>
        </p:spPr>
        <p:txBody>
          <a:bodyPr wrap="square" lIns="0" tIns="0" rIns="0" bIns="0" rtlCol="0" anchor="ctr"/>
          <a:lstStyle/>
          <a:p>
            <a:pPr marL="0" indent="0">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Data Types Validated</a:t>
            </a:r>
            <a:endParaRPr lang="en-US" sz="1000" dirty="0">
              <a:latin typeface="Times New Roman" panose="02020603050405020304" pitchFamily="18" charset="0"/>
              <a:cs typeface="Times New Roman" panose="02020603050405020304" pitchFamily="18" charset="0"/>
            </a:endParaRPr>
          </a:p>
        </p:txBody>
      </p:sp>
      <p:sp>
        <p:nvSpPr>
          <p:cNvPr id="20" name="Text 14"/>
          <p:cNvSpPr/>
          <p:nvPr/>
        </p:nvSpPr>
        <p:spPr>
          <a:xfrm>
            <a:off x="6903720" y="2203704"/>
            <a:ext cx="1691640" cy="228600"/>
          </a:xfrm>
          <a:prstGeom prst="rect">
            <a:avLst/>
          </a:prstGeom>
          <a:noFill/>
          <a:ln/>
        </p:spPr>
        <p:txBody>
          <a:bodyPr wrap="square" lIns="0" tIns="0" rIns="0" bIns="0" rtlCol="0" anchor="ctr"/>
          <a:lstStyle/>
          <a:p>
            <a:pPr marL="0" indent="0">
              <a:buNone/>
            </a:pPr>
            <a:r>
              <a:rPr lang="en-US" sz="1000" dirty="0">
                <a:solidFill>
                  <a:srgbClr val="10B981"/>
                </a:solidFill>
                <a:latin typeface="Times New Roman" panose="02020603050405020304" pitchFamily="18" charset="0"/>
                <a:ea typeface="Calibri" pitchFamily="34" charset="-122"/>
                <a:cs typeface="Times New Roman" panose="02020603050405020304" pitchFamily="18" charset="0"/>
              </a:rPr>
              <a:t>All types correct for analysis</a:t>
            </a:r>
            <a:endParaRPr lang="en-US" sz="1000" dirty="0">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r:embed="rId3"/>
          <a:stretch>
            <a:fillRect/>
          </a:stretch>
        </p:blipFill>
        <p:spPr>
          <a:xfrm>
            <a:off x="4983480" y="2478024"/>
            <a:ext cx="182880" cy="182880"/>
          </a:xfrm>
          <a:prstGeom prst="rect">
            <a:avLst/>
          </a:prstGeom>
        </p:spPr>
      </p:pic>
      <p:sp>
        <p:nvSpPr>
          <p:cNvPr id="22" name="Text 15"/>
          <p:cNvSpPr/>
          <p:nvPr/>
        </p:nvSpPr>
        <p:spPr>
          <a:xfrm>
            <a:off x="5230368" y="2459736"/>
            <a:ext cx="1645920" cy="228600"/>
          </a:xfrm>
          <a:prstGeom prst="rect">
            <a:avLst/>
          </a:prstGeom>
          <a:noFill/>
          <a:ln/>
        </p:spPr>
        <p:txBody>
          <a:bodyPr wrap="square" lIns="0" tIns="0" rIns="0" bIns="0" rtlCol="0" anchor="ctr"/>
          <a:lstStyle/>
          <a:p>
            <a:pPr marL="0" indent="0">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Price Standardized</a:t>
            </a:r>
            <a:endParaRPr lang="en-US" sz="1000" dirty="0">
              <a:latin typeface="Times New Roman" panose="02020603050405020304" pitchFamily="18" charset="0"/>
              <a:cs typeface="Times New Roman" panose="02020603050405020304" pitchFamily="18" charset="0"/>
            </a:endParaRPr>
          </a:p>
        </p:txBody>
      </p:sp>
      <p:sp>
        <p:nvSpPr>
          <p:cNvPr id="23" name="Text 16"/>
          <p:cNvSpPr/>
          <p:nvPr/>
        </p:nvSpPr>
        <p:spPr>
          <a:xfrm>
            <a:off x="6903720" y="2459736"/>
            <a:ext cx="1783080" cy="169164"/>
          </a:xfrm>
          <a:prstGeom prst="rect">
            <a:avLst/>
          </a:prstGeom>
          <a:noFill/>
          <a:ln/>
        </p:spPr>
        <p:txBody>
          <a:bodyPr wrap="square" lIns="0" tIns="0" rIns="0" bIns="0" rtlCol="0" anchor="ctr"/>
          <a:lstStyle/>
          <a:p>
            <a:pPr marL="0" indent="0">
              <a:buNone/>
            </a:pPr>
            <a:r>
              <a:rPr lang="en-US" sz="1000" dirty="0">
                <a:solidFill>
                  <a:srgbClr val="10B981"/>
                </a:solidFill>
                <a:latin typeface="Times New Roman" panose="02020603050405020304" pitchFamily="18" charset="0"/>
                <a:ea typeface="Calibri" pitchFamily="34" charset="-122"/>
                <a:cs typeface="Times New Roman" panose="02020603050405020304" pitchFamily="18" charset="0"/>
              </a:rPr>
              <a:t>Comma-separated strings → int64</a:t>
            </a:r>
            <a:endParaRPr lang="en-US" sz="1000" dirty="0">
              <a:latin typeface="Times New Roman" panose="02020603050405020304" pitchFamily="18" charset="0"/>
              <a:cs typeface="Times New Roman" panose="02020603050405020304" pitchFamily="18" charset="0"/>
            </a:endParaRPr>
          </a:p>
        </p:txBody>
      </p:sp>
      <p:pic>
        <p:nvPicPr>
          <p:cNvPr id="24" name="Image 4" descr="preencoded.png"/>
          <p:cNvPicPr>
            <a:picLocks noChangeAspect="1"/>
          </p:cNvPicPr>
          <p:nvPr/>
        </p:nvPicPr>
        <p:blipFill>
          <a:blip r:embed="rId3"/>
          <a:stretch>
            <a:fillRect/>
          </a:stretch>
        </p:blipFill>
        <p:spPr>
          <a:xfrm>
            <a:off x="4983480" y="2734056"/>
            <a:ext cx="182880" cy="182880"/>
          </a:xfrm>
          <a:prstGeom prst="rect">
            <a:avLst/>
          </a:prstGeom>
        </p:spPr>
      </p:pic>
      <p:sp>
        <p:nvSpPr>
          <p:cNvPr id="25" name="Text 17"/>
          <p:cNvSpPr/>
          <p:nvPr/>
        </p:nvSpPr>
        <p:spPr>
          <a:xfrm>
            <a:off x="5230368" y="2715768"/>
            <a:ext cx="1645920" cy="228600"/>
          </a:xfrm>
          <a:prstGeom prst="rect">
            <a:avLst/>
          </a:prstGeom>
          <a:noFill/>
          <a:ln/>
        </p:spPr>
        <p:txBody>
          <a:bodyPr wrap="square" lIns="0" tIns="0" rIns="0" bIns="0" rtlCol="0" anchor="ctr"/>
          <a:lstStyle/>
          <a:p>
            <a:pPr marL="0" indent="0">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Column Names Cleaned</a:t>
            </a:r>
            <a:endParaRPr lang="en-US" sz="1000" dirty="0">
              <a:latin typeface="Times New Roman" panose="02020603050405020304" pitchFamily="18" charset="0"/>
              <a:cs typeface="Times New Roman" panose="02020603050405020304" pitchFamily="18" charset="0"/>
            </a:endParaRPr>
          </a:p>
        </p:txBody>
      </p:sp>
      <p:sp>
        <p:nvSpPr>
          <p:cNvPr id="26" name="Text 18"/>
          <p:cNvSpPr/>
          <p:nvPr/>
        </p:nvSpPr>
        <p:spPr>
          <a:xfrm>
            <a:off x="6903720" y="2715768"/>
            <a:ext cx="1691640" cy="228600"/>
          </a:xfrm>
          <a:prstGeom prst="rect">
            <a:avLst/>
          </a:prstGeom>
          <a:noFill/>
          <a:ln/>
        </p:spPr>
        <p:txBody>
          <a:bodyPr wrap="square" lIns="0" tIns="0" rIns="0" bIns="0" rtlCol="0" anchor="ctr"/>
          <a:lstStyle/>
          <a:p>
            <a:pPr marL="0" indent="0" algn="just">
              <a:buNone/>
            </a:pPr>
            <a:r>
              <a:rPr lang="en-US" sz="1000" dirty="0">
                <a:solidFill>
                  <a:srgbClr val="10B981"/>
                </a:solidFill>
                <a:latin typeface="Times New Roman" panose="02020603050405020304" pitchFamily="18" charset="0"/>
                <a:ea typeface="Calibri" pitchFamily="34" charset="-122"/>
                <a:cs typeface="Times New Roman" panose="02020603050405020304" pitchFamily="18" charset="0"/>
              </a:rPr>
              <a:t>Stripped whitespace, renamed Prize→Price</a:t>
            </a:r>
            <a:endParaRPr lang="en-US" sz="1000" dirty="0">
              <a:latin typeface="Times New Roman" panose="02020603050405020304" pitchFamily="18" charset="0"/>
              <a:cs typeface="Times New Roman" panose="02020603050405020304" pitchFamily="18" charset="0"/>
            </a:endParaRPr>
          </a:p>
        </p:txBody>
      </p:sp>
      <p:sp>
        <p:nvSpPr>
          <p:cNvPr id="27" name="Shape 19"/>
          <p:cNvSpPr/>
          <p:nvPr/>
        </p:nvSpPr>
        <p:spPr>
          <a:xfrm>
            <a:off x="457200" y="3246120"/>
            <a:ext cx="8229600" cy="1554480"/>
          </a:xfrm>
          <a:prstGeom prst="rect">
            <a:avLst/>
          </a:prstGeom>
          <a:solidFill>
            <a:srgbClr val="1E2761"/>
          </a:solidFill>
          <a:ln/>
        </p:spPr>
        <p:txBody>
          <a:bodyPr/>
          <a:lstStyle/>
          <a:p>
            <a:endParaRPr lang="en-IN"/>
          </a:p>
        </p:txBody>
      </p:sp>
      <p:pic>
        <p:nvPicPr>
          <p:cNvPr id="28" name="Image 5" descr="preencoded.png"/>
          <p:cNvPicPr>
            <a:picLocks noChangeAspect="1"/>
          </p:cNvPicPr>
          <p:nvPr/>
        </p:nvPicPr>
        <p:blipFill>
          <a:blip r:embed="rId4"/>
          <a:stretch>
            <a:fillRect/>
          </a:stretch>
        </p:blipFill>
        <p:spPr>
          <a:xfrm>
            <a:off x="685800" y="3383280"/>
            <a:ext cx="274320" cy="274320"/>
          </a:xfrm>
          <a:prstGeom prst="rect">
            <a:avLst/>
          </a:prstGeom>
        </p:spPr>
      </p:pic>
      <p:sp>
        <p:nvSpPr>
          <p:cNvPr id="29" name="Text 20"/>
          <p:cNvSpPr/>
          <p:nvPr/>
        </p:nvSpPr>
        <p:spPr>
          <a:xfrm>
            <a:off x="1097280" y="3355848"/>
            <a:ext cx="7360920" cy="320040"/>
          </a:xfrm>
          <a:prstGeom prst="rect">
            <a:avLst/>
          </a:prstGeom>
          <a:noFill/>
          <a:ln/>
        </p:spPr>
        <p:txBody>
          <a:bodyPr wrap="square" lIns="0" tIns="0" rIns="0" bIns="0" rtlCol="0" anchor="ctr"/>
          <a:lstStyle/>
          <a:p>
            <a:pPr marL="0" indent="0">
              <a:buNone/>
            </a:pPr>
            <a:r>
              <a:rPr lang="en-US" sz="1400" b="1" dirty="0">
                <a:solidFill>
                  <a:srgbClr val="0891B2"/>
                </a:solidFill>
                <a:latin typeface="Times New Roman" panose="02020603050405020304" pitchFamily="18" charset="0"/>
                <a:ea typeface="Calibri" pitchFamily="34" charset="-122"/>
                <a:cs typeface="Times New Roman" panose="02020603050405020304" pitchFamily="18" charset="0"/>
              </a:rPr>
              <a:t>Interpretation &amp; Preprocessing Actions</a:t>
            </a:r>
            <a:endParaRPr lang="en-US" sz="1400" dirty="0">
              <a:latin typeface="Times New Roman" panose="02020603050405020304" pitchFamily="18" charset="0"/>
              <a:cs typeface="Times New Roman" panose="02020603050405020304" pitchFamily="18" charset="0"/>
            </a:endParaRPr>
          </a:p>
        </p:txBody>
      </p:sp>
      <p:sp>
        <p:nvSpPr>
          <p:cNvPr id="30" name="Text 21"/>
          <p:cNvSpPr/>
          <p:nvPr/>
        </p:nvSpPr>
        <p:spPr>
          <a:xfrm>
            <a:off x="685800" y="3749040"/>
            <a:ext cx="7772400" cy="914400"/>
          </a:xfrm>
          <a:prstGeom prst="rect">
            <a:avLst/>
          </a:prstGeom>
          <a:noFill/>
          <a:ln/>
        </p:spPr>
        <p:txBody>
          <a:bodyPr wrap="square" lIns="0" tIns="0" rIns="0" bIns="0" rtlCol="0" anchor="ctr"/>
          <a:lstStyle/>
          <a:p>
            <a:pPr marL="0" indent="0" algn="just">
              <a:buNone/>
            </a:pPr>
            <a:r>
              <a:rPr lang="en-US" sz="1050" dirty="0">
                <a:solidFill>
                  <a:srgbClr val="CADCFC"/>
                </a:solidFill>
                <a:latin typeface="Times New Roman" panose="02020603050405020304" pitchFamily="18" charset="0"/>
                <a:ea typeface="Calibri" pitchFamily="34" charset="-122"/>
                <a:cs typeface="Times New Roman" panose="02020603050405020304" pitchFamily="18" charset="0"/>
              </a:rPr>
              <a:t>The dataset demonstrates exceptional data integrity with zero missing values and zero duplicates, indicating high-quality data collection. The target variable (originally “Prize”) contained comma-formatted price strings (e.g., “15,999”) which were cleaned, converted to numeric integers, and renamed to “Price.” The unnecessary index column (“Unnamed: 0”) was removed, reducing dimensionality from 12 to 11 analytical features. The presence of mixed data types (6 numerical, 6 categorical) confirms that encoding (LabelEncoder, OneHotEncoder) and scaling (StandardScaler) will be required for machine learning. Overall, the dataset requires minimal imputation but benefits from feature engineering to maximize model performance.</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0"/>
            <a:ext cx="8229600" cy="566928"/>
          </a:xfrm>
          <a:prstGeom prst="rect">
            <a:avLst/>
          </a:prstGeom>
          <a:noFill/>
          <a:ln/>
        </p:spPr>
        <p:txBody>
          <a:bodyPr wrap="square" lIns="0" tIns="0" rIns="0" bIns="0" rtlCol="0" anchor="ctr"/>
          <a:lstStyle/>
          <a:p>
            <a:pPr marL="0" indent="0" algn="ctr">
              <a:buNone/>
            </a:pPr>
            <a:r>
              <a:rPr lang="en-US" sz="2400" b="1" dirty="0">
                <a:solidFill>
                  <a:srgbClr val="1E293B"/>
                </a:solidFill>
                <a:latin typeface="Times New Roman" panose="02020603050405020304" pitchFamily="18" charset="0"/>
                <a:ea typeface="Georgia" pitchFamily="34" charset="-122"/>
                <a:cs typeface="Times New Roman" panose="02020603050405020304" pitchFamily="18" charset="0"/>
              </a:rPr>
              <a:t>Descriptive Statistics</a:t>
            </a:r>
          </a:p>
        </p:txBody>
      </p:sp>
      <p:sp>
        <p:nvSpPr>
          <p:cNvPr id="4" name="Text 2"/>
          <p:cNvSpPr/>
          <p:nvPr/>
        </p:nvSpPr>
        <p:spPr>
          <a:xfrm>
            <a:off x="548640" y="566928"/>
            <a:ext cx="8046720" cy="502920"/>
          </a:xfrm>
          <a:prstGeom prst="rect">
            <a:avLst/>
          </a:prstGeom>
          <a:noFill/>
          <a:ln/>
        </p:spPr>
        <p:txBody>
          <a:bodyPr wrap="square" lIns="0" tIns="0" rIns="0" bIns="0" rtlCol="0" anchor="ctr"/>
          <a:lstStyle/>
          <a:p>
            <a:pPr marL="0" indent="0">
              <a:buNone/>
            </a:pPr>
            <a:r>
              <a:rPr lang="en-US" sz="1200" b="1" dirty="0">
                <a:solidFill>
                  <a:srgbClr val="64748B"/>
                </a:solidFill>
                <a:latin typeface="Times New Roman" panose="02020603050405020304" pitchFamily="18" charset="0"/>
                <a:ea typeface="Calibri" pitchFamily="34" charset="-122"/>
                <a:cs typeface="Times New Roman" panose="02020603050405020304" pitchFamily="18" charset="0"/>
              </a:rPr>
              <a:t>Descriptive statistics reveal the central tendency, dispersion, and distributional shape of each numerical feature, establishing the quantitative foundation for hypothesis testing, outlier detection, and model selection.</a:t>
            </a:r>
            <a:endParaRPr lang="en-US" sz="1200" b="1"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97280"/>
            <a:ext cx="8229600" cy="1143000"/>
          </a:xfrm>
          <a:prstGeom prst="rect">
            <a:avLst/>
          </a:prstGeom>
          <a:solidFill>
            <a:srgbClr val="1E2761"/>
          </a:solidFill>
          <a:ln/>
        </p:spPr>
        <p:txBody>
          <a:bodyPr/>
          <a:lstStyle/>
          <a:p>
            <a:endParaRPr lang="en-IN"/>
          </a:p>
        </p:txBody>
      </p:sp>
      <p:sp>
        <p:nvSpPr>
          <p:cNvPr id="6" name="Text 4"/>
          <p:cNvSpPr/>
          <p:nvPr/>
        </p:nvSpPr>
        <p:spPr>
          <a:xfrm>
            <a:off x="640080" y="1143000"/>
            <a:ext cx="18288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₹16,228</a:t>
            </a:r>
            <a:endParaRPr lang="en-US" sz="2000" dirty="0"/>
          </a:p>
        </p:txBody>
      </p:sp>
      <p:sp>
        <p:nvSpPr>
          <p:cNvPr id="7" name="Text 5"/>
          <p:cNvSpPr/>
          <p:nvPr/>
        </p:nvSpPr>
        <p:spPr>
          <a:xfrm>
            <a:off x="640080" y="1600200"/>
            <a:ext cx="1828800" cy="228600"/>
          </a:xfrm>
          <a:prstGeom prst="rect">
            <a:avLst/>
          </a:prstGeom>
          <a:noFill/>
          <a:ln/>
        </p:spPr>
        <p:txBody>
          <a:bodyPr wrap="square" lIns="0" tIns="0" rIns="0" bIns="0" rtlCol="0" anchor="ctr"/>
          <a:lstStyle/>
          <a:p>
            <a:pPr marL="0" indent="0" algn="ctr">
              <a:buNone/>
            </a:pPr>
            <a:r>
              <a:rPr lang="en-US" sz="950" b="1" dirty="0">
                <a:solidFill>
                  <a:srgbClr val="CADCFC"/>
                </a:solidFill>
                <a:latin typeface="Calibri" pitchFamily="34" charset="0"/>
                <a:ea typeface="Calibri" pitchFamily="34" charset="-122"/>
                <a:cs typeface="Calibri" pitchFamily="34" charset="-120"/>
              </a:rPr>
              <a:t>Mean Price</a:t>
            </a:r>
            <a:endParaRPr lang="en-US" sz="950" dirty="0"/>
          </a:p>
        </p:txBody>
      </p:sp>
      <p:sp>
        <p:nvSpPr>
          <p:cNvPr id="8" name="Text 6"/>
          <p:cNvSpPr/>
          <p:nvPr/>
        </p:nvSpPr>
        <p:spPr>
          <a:xfrm>
            <a:off x="640080" y="1828800"/>
            <a:ext cx="182880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Arithmetic average of all 541 records</a:t>
            </a:r>
            <a:endParaRPr lang="en-US" sz="750" dirty="0"/>
          </a:p>
        </p:txBody>
      </p:sp>
      <p:sp>
        <p:nvSpPr>
          <p:cNvPr id="9" name="Text 7"/>
          <p:cNvSpPr/>
          <p:nvPr/>
        </p:nvSpPr>
        <p:spPr>
          <a:xfrm>
            <a:off x="2670048" y="1143000"/>
            <a:ext cx="18288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₹13,499</a:t>
            </a:r>
            <a:endParaRPr lang="en-US" sz="2000" dirty="0"/>
          </a:p>
        </p:txBody>
      </p:sp>
      <p:sp>
        <p:nvSpPr>
          <p:cNvPr id="10" name="Text 8"/>
          <p:cNvSpPr/>
          <p:nvPr/>
        </p:nvSpPr>
        <p:spPr>
          <a:xfrm>
            <a:off x="2670048" y="1600200"/>
            <a:ext cx="1828800" cy="228600"/>
          </a:xfrm>
          <a:prstGeom prst="rect">
            <a:avLst/>
          </a:prstGeom>
          <a:noFill/>
          <a:ln/>
        </p:spPr>
        <p:txBody>
          <a:bodyPr wrap="square" lIns="0" tIns="0" rIns="0" bIns="0" rtlCol="0" anchor="ctr"/>
          <a:lstStyle/>
          <a:p>
            <a:pPr marL="0" indent="0" algn="ctr">
              <a:buNone/>
            </a:pPr>
            <a:r>
              <a:rPr lang="en-US" sz="950" b="1" dirty="0">
                <a:solidFill>
                  <a:srgbClr val="CADCFC"/>
                </a:solidFill>
                <a:latin typeface="Calibri" pitchFamily="34" charset="0"/>
                <a:ea typeface="Calibri" pitchFamily="34" charset="-122"/>
                <a:cs typeface="Calibri" pitchFamily="34" charset="-120"/>
              </a:rPr>
              <a:t>Median Price</a:t>
            </a:r>
            <a:endParaRPr lang="en-US" sz="950" dirty="0"/>
          </a:p>
        </p:txBody>
      </p:sp>
      <p:sp>
        <p:nvSpPr>
          <p:cNvPr id="11" name="Text 9"/>
          <p:cNvSpPr/>
          <p:nvPr/>
        </p:nvSpPr>
        <p:spPr>
          <a:xfrm>
            <a:off x="2670048" y="1828800"/>
            <a:ext cx="182880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50th percentile – robust to outliers</a:t>
            </a:r>
            <a:endParaRPr lang="en-US" sz="750" dirty="0"/>
          </a:p>
        </p:txBody>
      </p:sp>
      <p:sp>
        <p:nvSpPr>
          <p:cNvPr id="12" name="Text 10"/>
          <p:cNvSpPr/>
          <p:nvPr/>
        </p:nvSpPr>
        <p:spPr>
          <a:xfrm>
            <a:off x="4700016" y="1143000"/>
            <a:ext cx="18288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₹10,794</a:t>
            </a:r>
            <a:endParaRPr lang="en-US" sz="2000" dirty="0"/>
          </a:p>
        </p:txBody>
      </p:sp>
      <p:sp>
        <p:nvSpPr>
          <p:cNvPr id="13" name="Text 11"/>
          <p:cNvSpPr/>
          <p:nvPr/>
        </p:nvSpPr>
        <p:spPr>
          <a:xfrm>
            <a:off x="4700016" y="1600200"/>
            <a:ext cx="1828800" cy="228600"/>
          </a:xfrm>
          <a:prstGeom prst="rect">
            <a:avLst/>
          </a:prstGeom>
          <a:noFill/>
          <a:ln/>
        </p:spPr>
        <p:txBody>
          <a:bodyPr wrap="square" lIns="0" tIns="0" rIns="0" bIns="0" rtlCol="0" anchor="ctr"/>
          <a:lstStyle/>
          <a:p>
            <a:pPr marL="0" indent="0" algn="ctr">
              <a:buNone/>
            </a:pPr>
            <a:r>
              <a:rPr lang="en-US" sz="950" b="1" dirty="0">
                <a:solidFill>
                  <a:srgbClr val="CADCFC"/>
                </a:solidFill>
                <a:latin typeface="Calibri" pitchFamily="34" charset="0"/>
                <a:ea typeface="Calibri" pitchFamily="34" charset="-122"/>
                <a:cs typeface="Calibri" pitchFamily="34" charset="-120"/>
              </a:rPr>
              <a:t>Std Deviation</a:t>
            </a:r>
            <a:endParaRPr lang="en-US" sz="950" dirty="0"/>
          </a:p>
        </p:txBody>
      </p:sp>
      <p:sp>
        <p:nvSpPr>
          <p:cNvPr id="14" name="Text 12"/>
          <p:cNvSpPr/>
          <p:nvPr/>
        </p:nvSpPr>
        <p:spPr>
          <a:xfrm>
            <a:off x="4700016" y="1828800"/>
            <a:ext cx="182880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High variability around the mean</a:t>
            </a:r>
            <a:endParaRPr lang="en-US" sz="750" dirty="0"/>
          </a:p>
        </p:txBody>
      </p:sp>
      <p:sp>
        <p:nvSpPr>
          <p:cNvPr id="15" name="Text 13"/>
          <p:cNvSpPr/>
          <p:nvPr/>
        </p:nvSpPr>
        <p:spPr>
          <a:xfrm>
            <a:off x="6729984" y="1143000"/>
            <a:ext cx="182880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₹920 – ₹80,999</a:t>
            </a:r>
            <a:endParaRPr lang="en-US" sz="2000" dirty="0"/>
          </a:p>
        </p:txBody>
      </p:sp>
      <p:sp>
        <p:nvSpPr>
          <p:cNvPr id="16" name="Text 14"/>
          <p:cNvSpPr/>
          <p:nvPr/>
        </p:nvSpPr>
        <p:spPr>
          <a:xfrm>
            <a:off x="6729984" y="1600200"/>
            <a:ext cx="1828800" cy="228600"/>
          </a:xfrm>
          <a:prstGeom prst="rect">
            <a:avLst/>
          </a:prstGeom>
          <a:noFill/>
          <a:ln/>
        </p:spPr>
        <p:txBody>
          <a:bodyPr wrap="square" lIns="0" tIns="0" rIns="0" bIns="0" rtlCol="0" anchor="ctr"/>
          <a:lstStyle/>
          <a:p>
            <a:pPr marL="0" indent="0" algn="ctr">
              <a:buNone/>
            </a:pPr>
            <a:r>
              <a:rPr lang="en-US" sz="950" b="1" dirty="0">
                <a:solidFill>
                  <a:srgbClr val="CADCFC"/>
                </a:solidFill>
                <a:latin typeface="Calibri" pitchFamily="34" charset="0"/>
                <a:ea typeface="Calibri" pitchFamily="34" charset="-122"/>
                <a:cs typeface="Calibri" pitchFamily="34" charset="-120"/>
              </a:rPr>
              <a:t>Price Range</a:t>
            </a:r>
            <a:endParaRPr lang="en-US" sz="950" dirty="0"/>
          </a:p>
        </p:txBody>
      </p:sp>
      <p:sp>
        <p:nvSpPr>
          <p:cNvPr id="17" name="Text 15"/>
          <p:cNvSpPr/>
          <p:nvPr/>
        </p:nvSpPr>
        <p:spPr>
          <a:xfrm>
            <a:off x="6729984" y="1828800"/>
            <a:ext cx="1828800" cy="182880"/>
          </a:xfrm>
          <a:prstGeom prst="rect">
            <a:avLst/>
          </a:prstGeom>
          <a:noFill/>
          <a:ln/>
        </p:spPr>
        <p:txBody>
          <a:bodyPr wrap="square" lIns="0" tIns="0" rIns="0" bIns="0" rtlCol="0" anchor="ctr"/>
          <a:lstStyle/>
          <a:p>
            <a:pPr marL="0" indent="0" algn="ctr">
              <a:buNone/>
            </a:pPr>
            <a:r>
              <a:rPr lang="en-US" sz="750" dirty="0">
                <a:solidFill>
                  <a:srgbClr val="94A3B8"/>
                </a:solidFill>
                <a:latin typeface="Calibri" pitchFamily="34" charset="0"/>
                <a:ea typeface="Calibri" pitchFamily="34" charset="-122"/>
                <a:cs typeface="Calibri" pitchFamily="34" charset="-120"/>
              </a:rPr>
              <a:t>88x multiplier across market segments</a:t>
            </a:r>
            <a:endParaRPr lang="en-US" sz="750" dirty="0"/>
          </a:p>
        </p:txBody>
      </p:sp>
      <p:sp>
        <p:nvSpPr>
          <p:cNvPr id="18" name="Shape 16"/>
          <p:cNvSpPr/>
          <p:nvPr/>
        </p:nvSpPr>
        <p:spPr>
          <a:xfrm>
            <a:off x="457200" y="2423160"/>
            <a:ext cx="3931920" cy="2377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57200" y="2423160"/>
            <a:ext cx="54864" cy="2377440"/>
          </a:xfrm>
          <a:prstGeom prst="rect">
            <a:avLst/>
          </a:prstGeom>
          <a:solidFill>
            <a:srgbClr val="F59E0B"/>
          </a:solidFill>
          <a:ln/>
        </p:spPr>
        <p:txBody>
          <a:bodyPr/>
          <a:lstStyle/>
          <a:p>
            <a:endParaRPr lang="en-IN"/>
          </a:p>
        </p:txBody>
      </p:sp>
      <p:sp>
        <p:nvSpPr>
          <p:cNvPr id="20" name="Text 18"/>
          <p:cNvSpPr/>
          <p:nvPr/>
        </p:nvSpPr>
        <p:spPr>
          <a:xfrm>
            <a:off x="685800" y="2514600"/>
            <a:ext cx="347472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Distribution Shape &amp; Skewness</a:t>
            </a:r>
            <a:endParaRPr lang="en-US" sz="1400" dirty="0">
              <a:latin typeface="Times New Roman" panose="02020603050405020304" pitchFamily="18" charset="0"/>
              <a:cs typeface="Times New Roman" panose="02020603050405020304" pitchFamily="18" charset="0"/>
            </a:endParaRPr>
          </a:p>
        </p:txBody>
      </p:sp>
      <p:sp>
        <p:nvSpPr>
          <p:cNvPr id="21" name="Text 19"/>
          <p:cNvSpPr/>
          <p:nvPr/>
        </p:nvSpPr>
        <p:spPr>
          <a:xfrm>
            <a:off x="685800" y="2834640"/>
            <a:ext cx="3520440" cy="1828800"/>
          </a:xfrm>
          <a:prstGeom prst="rect">
            <a:avLst/>
          </a:prstGeom>
          <a:noFill/>
          <a:ln/>
        </p:spPr>
        <p:txBody>
          <a:bodyPr wrap="square" lIns="0" tIns="0" rIns="0" bIns="0" rtlCol="0" anchor="ctr"/>
          <a:lstStyle/>
          <a:p>
            <a:pPr marL="0" indent="0" algn="ctr">
              <a:spcAft>
                <a:spcPts val="500"/>
              </a:spcAft>
              <a:buNone/>
            </a:pPr>
            <a:r>
              <a:rPr lang="en-US" sz="1000" dirty="0">
                <a:solidFill>
                  <a:srgbClr val="F59E0B"/>
                </a:solidFill>
                <a:latin typeface="Times New Roman" panose="02020603050405020304" pitchFamily="18" charset="0"/>
                <a:ea typeface="Calibri" pitchFamily="34" charset="-122"/>
                <a:cs typeface="Times New Roman" panose="02020603050405020304" pitchFamily="18" charset="0"/>
              </a:rPr>
              <a:t>Right-skewed (positive skewness = 2.43)</a:t>
            </a:r>
            <a:endParaRPr lang="en-US" sz="1000" dirty="0">
              <a:latin typeface="Times New Roman" panose="02020603050405020304" pitchFamily="18" charset="0"/>
              <a:cs typeface="Times New Roman" panose="02020603050405020304" pitchFamily="18" charset="0"/>
            </a:endParaRPr>
          </a:p>
          <a:p>
            <a:pPr marL="0" indent="0" algn="just">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Mean (₹16,228) &gt; Median (₹13,499) confirms premium devices pulling the average upward. The majority of smartphones cluster in the budget-to-mid-range segment (₹9K–₹19K), forming the highest frequency region. A relatively small number of premium flagship devices (Samsung, Apple) extend the upper tail significantly, increasing the overall average. Kurtosis of 9.61 indicates heavy tails with extreme outlier values—devices priced well above ₹34,000 are statistically rare but present. This pricing pattern is typical of competitive markets where affordability and premium innovation coexist.</a:t>
            </a:r>
            <a:endParaRPr lang="en-US" sz="1000" dirty="0">
              <a:latin typeface="Times New Roman" panose="02020603050405020304" pitchFamily="18" charset="0"/>
              <a:cs typeface="Times New Roman" panose="02020603050405020304" pitchFamily="18" charset="0"/>
            </a:endParaRPr>
          </a:p>
        </p:txBody>
      </p:sp>
      <p:sp>
        <p:nvSpPr>
          <p:cNvPr id="22" name="Shape 20"/>
          <p:cNvSpPr/>
          <p:nvPr/>
        </p:nvSpPr>
        <p:spPr>
          <a:xfrm>
            <a:off x="4754880" y="2423160"/>
            <a:ext cx="3931920" cy="2377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3" name="Shape 21"/>
          <p:cNvSpPr/>
          <p:nvPr/>
        </p:nvSpPr>
        <p:spPr>
          <a:xfrm>
            <a:off x="4754880" y="2423160"/>
            <a:ext cx="54864" cy="2377440"/>
          </a:xfrm>
          <a:prstGeom prst="rect">
            <a:avLst/>
          </a:prstGeom>
          <a:solidFill>
            <a:srgbClr val="0891B2"/>
          </a:solidFill>
          <a:ln/>
        </p:spPr>
        <p:txBody>
          <a:bodyPr/>
          <a:lstStyle/>
          <a:p>
            <a:endParaRPr lang="en-IN"/>
          </a:p>
        </p:txBody>
      </p:sp>
      <p:sp>
        <p:nvSpPr>
          <p:cNvPr id="24" name="Text 22"/>
          <p:cNvSpPr/>
          <p:nvPr/>
        </p:nvSpPr>
        <p:spPr>
          <a:xfrm>
            <a:off x="4983480" y="2514600"/>
            <a:ext cx="347472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Key Hardware Statistics</a:t>
            </a:r>
            <a:endParaRPr lang="en-US" sz="1400" dirty="0">
              <a:latin typeface="Times New Roman" panose="02020603050405020304" pitchFamily="18" charset="0"/>
              <a:cs typeface="Times New Roman" panose="02020603050405020304" pitchFamily="18" charset="0"/>
            </a:endParaRPr>
          </a:p>
        </p:txBody>
      </p:sp>
      <p:graphicFrame>
        <p:nvGraphicFramePr>
          <p:cNvPr id="25" name="Table 0"/>
          <p:cNvGraphicFramePr>
            <a:graphicFrameLocks noGrp="1"/>
          </p:cNvGraphicFramePr>
          <p:nvPr>
            <p:extLst>
              <p:ext uri="{D42A27DB-BD31-4B8C-83A1-F6EECF244321}">
                <p14:modId xmlns:p14="http://schemas.microsoft.com/office/powerpoint/2010/main" val="1301413150"/>
              </p:ext>
            </p:extLst>
          </p:nvPr>
        </p:nvGraphicFramePr>
        <p:xfrm>
          <a:off x="4983480" y="2788920"/>
          <a:ext cx="3383280" cy="1463040"/>
        </p:xfrm>
        <a:graphic>
          <a:graphicData uri="http://schemas.openxmlformats.org/drawingml/2006/table">
            <a:tbl>
              <a:tblPr/>
              <a:tblGrid>
                <a:gridCol w="914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243840">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Mean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Median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Std Dev</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4384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Memory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110.6 GB</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128 GB</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60.6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RAM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5.4 GB</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 GB</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1.98</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Battery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4,872 mAh</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5,000 mAh</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780.1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4384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AI Lens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0.063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0.24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4384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Height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16.4 cm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16.7 cm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2.52</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6" name="Text 23"/>
          <p:cNvSpPr/>
          <p:nvPr/>
        </p:nvSpPr>
        <p:spPr>
          <a:xfrm>
            <a:off x="4983480" y="4251960"/>
            <a:ext cx="3520440" cy="548640"/>
          </a:xfrm>
          <a:prstGeom prst="rect">
            <a:avLst/>
          </a:prstGeom>
          <a:noFill/>
          <a:ln/>
        </p:spPr>
        <p:txBody>
          <a:bodyPr wrap="square" lIns="0" tIns="0" rIns="0" bIns="0" rtlCol="0" anchor="ctr"/>
          <a:lstStyle/>
          <a:p>
            <a:pPr marL="0" indent="0" algn="just">
              <a:buNone/>
            </a:pPr>
            <a:r>
              <a:rPr lang="en-US" sz="900" i="1" dirty="0">
                <a:solidFill>
                  <a:srgbClr val="94A3B8"/>
                </a:solidFill>
                <a:latin typeface="Times New Roman" panose="02020603050405020304" pitchFamily="18" charset="0"/>
                <a:ea typeface="Calibri" pitchFamily="34" charset="-122"/>
                <a:cs typeface="Times New Roman" panose="02020603050405020304" pitchFamily="18" charset="0"/>
              </a:rPr>
              <a:t>Median &gt; Mean for Memory and Battery indicates left-skew in hardware specs, contrasting with the right-skewed price distribution. Battery clusters heavily at 5,000 mAh (standard), while Memory shows a slight preference for 128 GB.</a:t>
            </a:r>
            <a:endParaRPr lang="en-US" sz="900" dirty="0">
              <a:latin typeface="Times New Roman" panose="02020603050405020304" pitchFamily="18" charset="0"/>
              <a:cs typeface="Times New Roman" panose="02020603050405020304" pitchFamily="18" charset="0"/>
            </a:endParaRPr>
          </a:p>
        </p:txBody>
      </p:sp>
      <p:pic>
        <p:nvPicPr>
          <p:cNvPr id="28" name="Picture 27">
            <a:extLst>
              <a:ext uri="{FF2B5EF4-FFF2-40B4-BE49-F238E27FC236}">
                <a16:creationId xmlns:a16="http://schemas.microsoft.com/office/drawing/2014/main" id="{FF79FD32-2911-1A10-BCA8-3FEE5B7E5ADB}"/>
              </a:ext>
            </a:extLst>
          </p:cNvPr>
          <p:cNvPicPr>
            <a:picLocks noChangeAspect="1"/>
          </p:cNvPicPr>
          <p:nvPr/>
        </p:nvPicPr>
        <p:blipFill>
          <a:blip r:embed="rId3"/>
          <a:stretch>
            <a:fillRect/>
          </a:stretch>
        </p:blipFill>
        <p:spPr>
          <a:xfrm>
            <a:off x="4700016" y="2423160"/>
            <a:ext cx="3986784" cy="237744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2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91440" y="0"/>
            <a:ext cx="9052560" cy="591312"/>
          </a:xfrm>
          <a:prstGeom prst="rect">
            <a:avLst/>
          </a:prstGeom>
          <a:noFill/>
          <a:ln/>
        </p:spPr>
        <p:txBody>
          <a:bodyPr wrap="square" lIns="0" tIns="0" rIns="0" bIns="0" rtlCol="0" anchor="ctr"/>
          <a:lstStyle/>
          <a:p>
            <a:pPr marL="0" indent="0" algn="ctr">
              <a:buNone/>
            </a:pPr>
            <a:r>
              <a:rPr lang="en-US" sz="2200" b="1" dirty="0">
                <a:solidFill>
                  <a:srgbClr val="1E293B"/>
                </a:solidFill>
                <a:latin typeface="Georgia" pitchFamily="34" charset="0"/>
                <a:ea typeface="Georgia" pitchFamily="34" charset="-122"/>
                <a:cs typeface="Georgia" pitchFamily="34" charset="-120"/>
              </a:rPr>
              <a:t>Distribution Analysis: Normality, Skewness &amp; Kurtosis</a:t>
            </a:r>
            <a:endParaRPr lang="en-US" sz="2200" dirty="0"/>
          </a:p>
        </p:txBody>
      </p:sp>
      <p:sp>
        <p:nvSpPr>
          <p:cNvPr id="4" name="Text 2"/>
          <p:cNvSpPr/>
          <p:nvPr/>
        </p:nvSpPr>
        <p:spPr>
          <a:xfrm>
            <a:off x="438912" y="591312"/>
            <a:ext cx="8247888" cy="469392"/>
          </a:xfrm>
          <a:prstGeom prst="rect">
            <a:avLst/>
          </a:prstGeom>
          <a:noFill/>
          <a:ln/>
        </p:spPr>
        <p:txBody>
          <a:bodyPr wrap="square" lIns="0" tIns="0" rIns="0" bIns="0" rtlCol="0" anchor="ctr"/>
          <a:lstStyle/>
          <a:p>
            <a:pPr marL="0" indent="0" algn="just">
              <a:buNone/>
            </a:pPr>
            <a:r>
              <a:rPr lang="en-US" sz="1100" b="1" dirty="0">
                <a:solidFill>
                  <a:srgbClr val="64748B"/>
                </a:solidFill>
                <a:latin typeface="Times New Roman" panose="02020603050405020304" pitchFamily="18" charset="0"/>
                <a:ea typeface="Calibri" pitchFamily="34" charset="-122"/>
                <a:cs typeface="Times New Roman" panose="02020603050405020304" pitchFamily="18" charset="0"/>
              </a:rPr>
              <a:t>Understanding the distributional behavior of each feature is critical for selecting appropriate statistical tests and machine learning algorithms. The Shapiro-Wilk test evaluates normality, skewness measures distribution asymmetry, and kurtosis assesses tail heaviness. These diagnostics guide transformation decisions and validate the use of non-parametric methods.</a:t>
            </a:r>
            <a:endParaRPr lang="en-US" sz="1100" b="1" dirty="0">
              <a:latin typeface="Times New Roman" panose="02020603050405020304" pitchFamily="18" charset="0"/>
              <a:cs typeface="Times New Roman" panose="02020603050405020304" pitchFamily="18" charset="0"/>
            </a:endParaRPr>
          </a:p>
        </p:txBody>
      </p:sp>
      <p:sp>
        <p:nvSpPr>
          <p:cNvPr id="5" name="Shape 3"/>
          <p:cNvSpPr/>
          <p:nvPr/>
        </p:nvSpPr>
        <p:spPr>
          <a:xfrm>
            <a:off x="438912" y="1097280"/>
            <a:ext cx="3950208" cy="240487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57200" y="1097280"/>
            <a:ext cx="3931920" cy="54864"/>
          </a:xfrm>
          <a:prstGeom prst="rect">
            <a:avLst/>
          </a:prstGeom>
          <a:solidFill>
            <a:srgbClr val="0891B2"/>
          </a:solidFill>
          <a:ln/>
        </p:spPr>
        <p:txBody>
          <a:bodyPr/>
          <a:lstStyle/>
          <a:p>
            <a:endParaRPr lang="en-IN"/>
          </a:p>
        </p:txBody>
      </p:sp>
      <p:sp>
        <p:nvSpPr>
          <p:cNvPr id="7" name="Text 5"/>
          <p:cNvSpPr/>
          <p:nvPr/>
        </p:nvSpPr>
        <p:spPr>
          <a:xfrm>
            <a:off x="598933" y="1170432"/>
            <a:ext cx="3630167" cy="292608"/>
          </a:xfrm>
          <a:prstGeom prst="rect">
            <a:avLst/>
          </a:prstGeom>
          <a:noFill/>
          <a:ln/>
        </p:spPr>
        <p:txBody>
          <a:bodyPr wrap="square" lIns="0" tIns="0" rIns="0" bIns="0" rtlCol="0" anchor="ctr"/>
          <a:lstStyle/>
          <a:p>
            <a:pPr marL="0" indent="0" algn="ctr">
              <a:buNone/>
            </a:pPr>
            <a:r>
              <a:rPr lang="en-US" sz="1100" b="1" dirty="0">
                <a:solidFill>
                  <a:srgbClr val="1E293B"/>
                </a:solidFill>
                <a:latin typeface="Times New Roman" panose="02020603050405020304" pitchFamily="18" charset="0"/>
                <a:ea typeface="Calibri" pitchFamily="34" charset="-122"/>
                <a:cs typeface="Times New Roman" panose="02020603050405020304" pitchFamily="18" charset="0"/>
              </a:rPr>
              <a:t>Shapiro-Wilk Normality Test (H₀: Feature is Normal</a:t>
            </a:r>
            <a:r>
              <a:rPr lang="en-US" sz="1050" b="1" dirty="0">
                <a:solidFill>
                  <a:srgbClr val="1E293B"/>
                </a:solidFill>
                <a:latin typeface="Calibri" pitchFamily="34" charset="0"/>
                <a:ea typeface="Calibri" pitchFamily="34" charset="-122"/>
                <a:cs typeface="Calibri" pitchFamily="34" charset="-120"/>
              </a:rPr>
              <a:t>)</a:t>
            </a:r>
            <a:endParaRPr lang="en-US" sz="1050" dirty="0"/>
          </a:p>
        </p:txBody>
      </p:sp>
      <p:sp>
        <p:nvSpPr>
          <p:cNvPr id="8" name="Text 6"/>
          <p:cNvSpPr/>
          <p:nvPr/>
        </p:nvSpPr>
        <p:spPr>
          <a:xfrm>
            <a:off x="598933" y="1481328"/>
            <a:ext cx="3630167" cy="118872"/>
          </a:xfrm>
          <a:prstGeom prst="rect">
            <a:avLst/>
          </a:prstGeom>
          <a:noFill/>
          <a:ln/>
        </p:spPr>
        <p:txBody>
          <a:bodyPr wrap="square" lIns="0" tIns="0" rIns="0" bIns="0" rtlCol="0" anchor="ctr"/>
          <a:lstStyle/>
          <a:p>
            <a:pPr marL="0" indent="0" algn="just">
              <a:buNone/>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All features reject H₀ at p &lt; 0.05, meaning none follow a normal distribution. This is expected for real-world market data with natural segmentation.</a:t>
            </a:r>
            <a:endParaRPr lang="en-US" sz="900" dirty="0">
              <a:latin typeface="Times New Roman" panose="02020603050405020304" pitchFamily="18" charset="0"/>
              <a:cs typeface="Times New Roman" panose="02020603050405020304" pitchFamily="18" charset="0"/>
            </a:endParaRPr>
          </a:p>
        </p:txBody>
      </p:sp>
      <p:graphicFrame>
        <p:nvGraphicFramePr>
          <p:cNvPr id="22" name="Table 0"/>
          <p:cNvGraphicFramePr>
            <a:graphicFrameLocks noGrp="1"/>
          </p:cNvGraphicFramePr>
          <p:nvPr>
            <p:extLst>
              <p:ext uri="{D42A27DB-BD31-4B8C-83A1-F6EECF244321}">
                <p14:modId xmlns:p14="http://schemas.microsoft.com/office/powerpoint/2010/main" val="4005628957"/>
              </p:ext>
            </p:extLst>
          </p:nvPr>
        </p:nvGraphicFramePr>
        <p:xfrm>
          <a:off x="598933" y="1783080"/>
          <a:ext cx="3630168" cy="1615440"/>
        </p:xfrm>
        <a:graphic>
          <a:graphicData uri="http://schemas.openxmlformats.org/drawingml/2006/table">
            <a:tbl>
              <a:tblPr/>
              <a:tblGrid>
                <a:gridCol w="981127">
                  <a:extLst>
                    <a:ext uri="{9D8B030D-6E8A-4147-A177-3AD203B41FA5}">
                      <a16:colId xmlns:a16="http://schemas.microsoft.com/office/drawing/2014/main" val="20000"/>
                    </a:ext>
                  </a:extLst>
                </a:gridCol>
                <a:gridCol w="784901">
                  <a:extLst>
                    <a:ext uri="{9D8B030D-6E8A-4147-A177-3AD203B41FA5}">
                      <a16:colId xmlns:a16="http://schemas.microsoft.com/office/drawing/2014/main" val="20001"/>
                    </a:ext>
                  </a:extLst>
                </a:gridCol>
                <a:gridCol w="686788">
                  <a:extLst>
                    <a:ext uri="{9D8B030D-6E8A-4147-A177-3AD203B41FA5}">
                      <a16:colId xmlns:a16="http://schemas.microsoft.com/office/drawing/2014/main" val="20002"/>
                    </a:ext>
                  </a:extLst>
                </a:gridCol>
                <a:gridCol w="1177352">
                  <a:extLst>
                    <a:ext uri="{9D8B030D-6E8A-4147-A177-3AD203B41FA5}">
                      <a16:colId xmlns:a16="http://schemas.microsoft.com/office/drawing/2014/main" val="20003"/>
                    </a:ext>
                  </a:extLst>
                </a:gridCol>
              </a:tblGrid>
              <a:tr h="201168">
                <a:tc>
                  <a:txBody>
                    <a:bodyPr/>
                    <a:lstStyle/>
                    <a:p>
                      <a:pPr marL="0" indent="0">
                        <a:buNone/>
                      </a:pPr>
                      <a:r>
                        <a:rPr lang="en-US" sz="80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Times New Roman" panose="02020603050405020304" pitchFamily="18" charset="0"/>
                          <a:ea typeface="Calibri" pitchFamily="34" charset="-122"/>
                          <a:cs typeface="Times New Roman" panose="02020603050405020304" pitchFamily="18" charset="0"/>
                        </a:rPr>
                        <a:t>W Statistic</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Times New Roman" panose="02020603050405020304" pitchFamily="18" charset="0"/>
                          <a:ea typeface="Calibri" pitchFamily="34" charset="-122"/>
                          <a:cs typeface="Times New Roman" panose="02020603050405020304" pitchFamily="18" charset="0"/>
                        </a:rPr>
                        <a:t>p-value</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Times New Roman" panose="02020603050405020304" pitchFamily="18" charset="0"/>
                          <a:ea typeface="Calibri" pitchFamily="34" charset="-122"/>
                          <a:cs typeface="Times New Roman" panose="02020603050405020304" pitchFamily="18" charset="0"/>
                        </a:rPr>
                        <a:t>Normal?</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Memory</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0.799</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right-skewed</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RAM</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0.860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slight left-skew</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Battery</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0.517</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heavy left-skew</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AI Lens</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0.259</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binary, extreme</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Mobile Height</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0.282</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outlier-influenced</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182880">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Price</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0.804</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0.000</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Times New Roman" panose="02020603050405020304" pitchFamily="18" charset="0"/>
                          <a:ea typeface="Calibri" pitchFamily="34" charset="-122"/>
                          <a:cs typeface="Times New Roman" panose="02020603050405020304" pitchFamily="18" charset="0"/>
                        </a:rPr>
                        <a:t>No – right-skewed, heavy tail</a:t>
                      </a:r>
                      <a:endParaRPr lang="en-US" sz="8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Shape 7"/>
          <p:cNvSpPr/>
          <p:nvPr/>
        </p:nvSpPr>
        <p:spPr>
          <a:xfrm>
            <a:off x="4754880" y="1097280"/>
            <a:ext cx="3931920" cy="23774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1" name="Shape 8"/>
          <p:cNvSpPr/>
          <p:nvPr/>
        </p:nvSpPr>
        <p:spPr>
          <a:xfrm>
            <a:off x="4754880" y="1097280"/>
            <a:ext cx="3931920" cy="54864"/>
          </a:xfrm>
          <a:prstGeom prst="rect">
            <a:avLst/>
          </a:prstGeom>
          <a:solidFill>
            <a:srgbClr val="F59E0B"/>
          </a:solidFill>
          <a:ln/>
        </p:spPr>
        <p:txBody>
          <a:bodyPr/>
          <a:lstStyle/>
          <a:p>
            <a:endParaRPr lang="en-IN"/>
          </a:p>
        </p:txBody>
      </p:sp>
      <p:sp>
        <p:nvSpPr>
          <p:cNvPr id="12" name="Text 9"/>
          <p:cNvSpPr/>
          <p:nvPr/>
        </p:nvSpPr>
        <p:spPr>
          <a:xfrm>
            <a:off x="4914899" y="1152144"/>
            <a:ext cx="3630167" cy="310896"/>
          </a:xfrm>
          <a:prstGeom prst="rect">
            <a:avLst/>
          </a:prstGeom>
          <a:noFill/>
          <a:ln/>
        </p:spPr>
        <p:txBody>
          <a:bodyPr wrap="square" lIns="0" tIns="0" rIns="0" bIns="0" rtlCol="0" anchor="ctr"/>
          <a:lstStyle/>
          <a:p>
            <a:pPr marL="0" indent="0" algn="ctr">
              <a:buNone/>
            </a:pPr>
            <a:r>
              <a:rPr lang="en-US" sz="1100" b="1" dirty="0">
                <a:solidFill>
                  <a:srgbClr val="1E293B"/>
                </a:solidFill>
                <a:latin typeface="Times New Roman" panose="02020603050405020304" pitchFamily="18" charset="0"/>
                <a:ea typeface="Calibri" pitchFamily="34" charset="-122"/>
                <a:cs typeface="Times New Roman" panose="02020603050405020304" pitchFamily="18" charset="0"/>
              </a:rPr>
              <a:t>Skewness &amp; Kurtosis Profile</a:t>
            </a:r>
            <a:endParaRPr lang="en-US" sz="1100" dirty="0">
              <a:latin typeface="Times New Roman" panose="02020603050405020304" pitchFamily="18" charset="0"/>
              <a:cs typeface="Times New Roman" panose="02020603050405020304" pitchFamily="18" charset="0"/>
            </a:endParaRPr>
          </a:p>
        </p:txBody>
      </p:sp>
      <p:sp>
        <p:nvSpPr>
          <p:cNvPr id="13" name="Text 10"/>
          <p:cNvSpPr/>
          <p:nvPr/>
        </p:nvSpPr>
        <p:spPr>
          <a:xfrm>
            <a:off x="4983480" y="1481328"/>
            <a:ext cx="3474720" cy="256032"/>
          </a:xfrm>
          <a:prstGeom prst="rect">
            <a:avLst/>
          </a:prstGeom>
          <a:noFill/>
          <a:ln/>
        </p:spPr>
        <p:txBody>
          <a:bodyPr wrap="square" lIns="0" tIns="0" rIns="0" bIns="0" rtlCol="0" anchor="ctr"/>
          <a:lstStyle/>
          <a:p>
            <a:pPr marL="0" indent="0">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Skewness indicates asymmetry direction; Kurtosis indicates tail heaviness. Values far from 0 (skew) or 3 (kurtosis) suggest non-normality.</a:t>
            </a:r>
            <a:endParaRPr lang="en-US" sz="1000" dirty="0">
              <a:latin typeface="Times New Roman" panose="02020603050405020304" pitchFamily="18" charset="0"/>
              <a:cs typeface="Times New Roman" panose="02020603050405020304" pitchFamily="18" charset="0"/>
            </a:endParaRPr>
          </a:p>
        </p:txBody>
      </p:sp>
      <p:graphicFrame>
        <p:nvGraphicFramePr>
          <p:cNvPr id="43" name="Table 1"/>
          <p:cNvGraphicFramePr>
            <a:graphicFrameLocks noGrp="1"/>
          </p:cNvGraphicFramePr>
          <p:nvPr>
            <p:extLst>
              <p:ext uri="{D42A27DB-BD31-4B8C-83A1-F6EECF244321}">
                <p14:modId xmlns:p14="http://schemas.microsoft.com/office/powerpoint/2010/main" val="2704983147"/>
              </p:ext>
            </p:extLst>
          </p:nvPr>
        </p:nvGraphicFramePr>
        <p:xfrm>
          <a:off x="4914900" y="1879092"/>
          <a:ext cx="3649980" cy="1737360"/>
        </p:xfrm>
        <a:graphic>
          <a:graphicData uri="http://schemas.openxmlformats.org/drawingml/2006/table">
            <a:tbl>
              <a:tblPr/>
              <a:tblGrid>
                <a:gridCol w="789184">
                  <a:extLst>
                    <a:ext uri="{9D8B030D-6E8A-4147-A177-3AD203B41FA5}">
                      <a16:colId xmlns:a16="http://schemas.microsoft.com/office/drawing/2014/main" val="20000"/>
                    </a:ext>
                  </a:extLst>
                </a:gridCol>
                <a:gridCol w="690537">
                  <a:extLst>
                    <a:ext uri="{9D8B030D-6E8A-4147-A177-3AD203B41FA5}">
                      <a16:colId xmlns:a16="http://schemas.microsoft.com/office/drawing/2014/main" val="20001"/>
                    </a:ext>
                  </a:extLst>
                </a:gridCol>
                <a:gridCol w="690537">
                  <a:extLst>
                    <a:ext uri="{9D8B030D-6E8A-4147-A177-3AD203B41FA5}">
                      <a16:colId xmlns:a16="http://schemas.microsoft.com/office/drawing/2014/main" val="20002"/>
                    </a:ext>
                  </a:extLst>
                </a:gridCol>
                <a:gridCol w="1479722">
                  <a:extLst>
                    <a:ext uri="{9D8B030D-6E8A-4147-A177-3AD203B41FA5}">
                      <a16:colId xmlns:a16="http://schemas.microsoft.com/office/drawing/2014/main" val="20003"/>
                    </a:ext>
                  </a:extLst>
                </a:gridCol>
              </a:tblGrid>
              <a:tr h="195954">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Feature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Skewness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Kurtosis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Interpretation</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95954">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Memory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1.03</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0.86</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Right-skewed, light tails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95954">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RAM</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0.07</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-1.31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~Symmetric, flat distribution</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195954">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Battery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-3.30</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14.75</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Heavy left-skew, extreme tails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195954">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AI Lens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3.61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11.09</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Extreme right-skew (93.7% = 0)</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07928">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Height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1.17</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48.22</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Outlier-driven extreme kurtosis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07928">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Price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2.43</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9.61</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Strong right-skew, heavy premium tail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5" name="Shape 11"/>
          <p:cNvSpPr/>
          <p:nvPr/>
        </p:nvSpPr>
        <p:spPr>
          <a:xfrm>
            <a:off x="438912" y="3474720"/>
            <a:ext cx="8229600" cy="1463040"/>
          </a:xfrm>
          <a:prstGeom prst="rect">
            <a:avLst/>
          </a:prstGeom>
          <a:solidFill>
            <a:srgbClr val="1E2761"/>
          </a:solidFill>
          <a:ln/>
        </p:spPr>
        <p:txBody>
          <a:bodyPr/>
          <a:lstStyle/>
          <a:p>
            <a:endParaRPr lang="en-IN"/>
          </a:p>
        </p:txBody>
      </p:sp>
      <p:pic>
        <p:nvPicPr>
          <p:cNvPr id="16" name="Image 0" descr="preencoded.png"/>
          <p:cNvPicPr>
            <a:picLocks noChangeAspect="1"/>
          </p:cNvPicPr>
          <p:nvPr/>
        </p:nvPicPr>
        <p:blipFill>
          <a:blip r:embed="rId3"/>
          <a:stretch>
            <a:fillRect/>
          </a:stretch>
        </p:blipFill>
        <p:spPr>
          <a:xfrm>
            <a:off x="685800" y="3566160"/>
            <a:ext cx="256032" cy="256032"/>
          </a:xfrm>
          <a:prstGeom prst="rect">
            <a:avLst/>
          </a:prstGeom>
        </p:spPr>
      </p:pic>
      <p:sp>
        <p:nvSpPr>
          <p:cNvPr id="17" name="Text 12"/>
          <p:cNvSpPr/>
          <p:nvPr/>
        </p:nvSpPr>
        <p:spPr>
          <a:xfrm>
            <a:off x="1051560" y="3547872"/>
            <a:ext cx="7513320" cy="320040"/>
          </a:xfrm>
          <a:prstGeom prst="rect">
            <a:avLst/>
          </a:prstGeom>
          <a:noFill/>
          <a:ln/>
        </p:spPr>
        <p:txBody>
          <a:bodyPr wrap="square" lIns="0" tIns="0" rIns="0" bIns="0" rtlCol="0" anchor="ctr"/>
          <a:lstStyle/>
          <a:p>
            <a:pPr marL="0" indent="0">
              <a:buNone/>
            </a:pPr>
            <a:r>
              <a:rPr lang="en-US" sz="1400" b="1" dirty="0">
                <a:solidFill>
                  <a:srgbClr val="0891B2"/>
                </a:solidFill>
                <a:latin typeface="Times New Roman" panose="02020603050405020304" pitchFamily="18" charset="0"/>
                <a:ea typeface="Calibri" pitchFamily="34" charset="-122"/>
                <a:cs typeface="Times New Roman" panose="02020603050405020304" pitchFamily="18" charset="0"/>
              </a:rPr>
              <a:t>Modeling Implications</a:t>
            </a:r>
            <a:endParaRPr lang="en-US" sz="1400" dirty="0">
              <a:latin typeface="Times New Roman" panose="02020603050405020304" pitchFamily="18" charset="0"/>
              <a:cs typeface="Times New Roman" panose="02020603050405020304" pitchFamily="18" charset="0"/>
            </a:endParaRPr>
          </a:p>
        </p:txBody>
      </p:sp>
      <p:sp>
        <p:nvSpPr>
          <p:cNvPr id="18" name="Text 13"/>
          <p:cNvSpPr/>
          <p:nvPr/>
        </p:nvSpPr>
        <p:spPr>
          <a:xfrm>
            <a:off x="685800" y="3886200"/>
            <a:ext cx="7772400" cy="975360"/>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The universal non-normality across all features has important implications for analytical methodology. Traditional parametric methods (e.g., OLS regression) assume normally distributed residuals, which may not hold here. This finding strongly justifies the use of tree-based machine learning models (XGBoost, Random Forest, Decision Tree) which make no distributional assumptions and naturally handle skewed, heavy-tailed data. Price’s skewness (2.43) and kurtosis (9.61) confirm that the market is bifurcated: the majority of devices occupy the budget-to-mid-range segment, while a long tail of premium flagships creates extreme values. Log-transformation of Price could reduce skewness for parametric approaches, but tree-based models handle this directly. Battery’s extreme negative skew (-3.30) reflects market standardization on 5,000 mAh, making it a poor standalone predictor despite its intuitive importance.</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0"/>
            <a:ext cx="7315200" cy="609600"/>
          </a:xfrm>
          <a:prstGeom prst="rect">
            <a:avLst/>
          </a:prstGeom>
          <a:noFill/>
          <a:ln/>
        </p:spPr>
        <p:txBody>
          <a:bodyPr wrap="square" lIns="0" tIns="0" rIns="0" bIns="0" rtlCol="0" anchor="ctr"/>
          <a:lstStyle/>
          <a:p>
            <a:pPr marL="0" indent="0" algn="ctr">
              <a:buNone/>
            </a:pPr>
            <a:r>
              <a:rPr lang="en-US" sz="2600" b="1" dirty="0">
                <a:solidFill>
                  <a:srgbClr val="1E293B"/>
                </a:solidFill>
                <a:latin typeface="Times New Roman" panose="02020603050405020304" pitchFamily="18" charset="0"/>
                <a:ea typeface="Georgia" pitchFamily="34" charset="-122"/>
                <a:cs typeface="Times New Roman" panose="02020603050405020304" pitchFamily="18" charset="0"/>
              </a:rPr>
              <a:t>Outlier Analysis (IQR Method)</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548640" y="524256"/>
            <a:ext cx="8046720" cy="609600"/>
          </a:xfrm>
          <a:prstGeom prst="rect">
            <a:avLst/>
          </a:prstGeom>
          <a:noFill/>
          <a:ln/>
        </p:spPr>
        <p:txBody>
          <a:bodyPr wrap="square" lIns="0" tIns="0" rIns="0" bIns="0" rtlCol="0" anchor="ctr"/>
          <a:lstStyle/>
          <a:p>
            <a:pPr marL="0" indent="0" algn="just">
              <a:buNone/>
            </a:pPr>
            <a:r>
              <a:rPr lang="en-US" sz="1200" b="1" dirty="0">
                <a:solidFill>
                  <a:srgbClr val="64748B"/>
                </a:solidFill>
                <a:latin typeface="Times New Roman" panose="02020603050405020304" pitchFamily="18" charset="0"/>
                <a:ea typeface="Calibri" pitchFamily="34" charset="-122"/>
                <a:cs typeface="Times New Roman" panose="02020603050405020304" pitchFamily="18" charset="0"/>
              </a:rPr>
              <a:t>The Interquartile Range (IQR) method identifies observations that lie significantly outside the normal range by calculating the spread of the middle 50% of data. Detecting outliers is essential because they may influence statistical tests, ML model training, and business conclusions. In this context, outliers often represent genuine premium devices rather than data errors.</a:t>
            </a:r>
            <a:endParaRPr lang="en-US" sz="1200" b="1" dirty="0">
              <a:latin typeface="Times New Roman" panose="02020603050405020304" pitchFamily="18" charset="0"/>
              <a:cs typeface="Times New Roman" panose="02020603050405020304" pitchFamily="18" charset="0"/>
            </a:endParaRPr>
          </a:p>
        </p:txBody>
      </p:sp>
      <p:graphicFrame>
        <p:nvGraphicFramePr>
          <p:cNvPr id="11" name="Table 0"/>
          <p:cNvGraphicFramePr>
            <a:graphicFrameLocks noGrp="1"/>
          </p:cNvGraphicFramePr>
          <p:nvPr>
            <p:extLst>
              <p:ext uri="{D42A27DB-BD31-4B8C-83A1-F6EECF244321}">
                <p14:modId xmlns:p14="http://schemas.microsoft.com/office/powerpoint/2010/main" val="2650422256"/>
              </p:ext>
            </p:extLst>
          </p:nvPr>
        </p:nvGraphicFramePr>
        <p:xfrm>
          <a:off x="457200" y="1234440"/>
          <a:ext cx="8229600" cy="1962912"/>
        </p:xfrm>
        <a:graphic>
          <a:graphicData uri="http://schemas.openxmlformats.org/drawingml/2006/table">
            <a:tbl>
              <a:tblPr/>
              <a:tblGrid>
                <a:gridCol w="1410789">
                  <a:extLst>
                    <a:ext uri="{9D8B030D-6E8A-4147-A177-3AD203B41FA5}">
                      <a16:colId xmlns:a16="http://schemas.microsoft.com/office/drawing/2014/main" val="20000"/>
                    </a:ext>
                  </a:extLst>
                </a:gridCol>
                <a:gridCol w="1175657">
                  <a:extLst>
                    <a:ext uri="{9D8B030D-6E8A-4147-A177-3AD203B41FA5}">
                      <a16:colId xmlns:a16="http://schemas.microsoft.com/office/drawing/2014/main" val="20001"/>
                    </a:ext>
                  </a:extLst>
                </a:gridCol>
                <a:gridCol w="1175657">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05394">
                  <a:extLst>
                    <a:ext uri="{9D8B030D-6E8A-4147-A177-3AD203B41FA5}">
                      <a16:colId xmlns:a16="http://schemas.microsoft.com/office/drawing/2014/main" val="20004"/>
                    </a:ext>
                  </a:extLst>
                </a:gridCol>
                <a:gridCol w="2939143">
                  <a:extLst>
                    <a:ext uri="{9D8B030D-6E8A-4147-A177-3AD203B41FA5}">
                      <a16:colId xmlns:a16="http://schemas.microsoft.com/office/drawing/2014/main" val="20005"/>
                    </a:ext>
                  </a:extLst>
                </a:gridCol>
              </a:tblGrid>
              <a:tr h="256032">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Lower Bound</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Upper Bound</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Outliers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Interpretation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RAM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14.00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Standardized specs, no extremes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Memory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-32.00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224.00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10.17%</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Premium 256GB devices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Battery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5,000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5,000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152</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28.10%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5000mAh is the market norm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Rear Camera</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-42.5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105.5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7.21%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High-MP camera outliers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Front Camera</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-11.5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32.5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2.40%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Premium selfie cameras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Mobile Height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15.87</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17.58</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6.10%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Non-standard form factors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Price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-5,695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34,265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4.62%</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Flagship premium devices</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457200" y="3337560"/>
            <a:ext cx="8229600" cy="1463040"/>
          </a:xfrm>
          <a:prstGeom prst="rect">
            <a:avLst/>
          </a:prstGeom>
          <a:solidFill>
            <a:srgbClr val="1E276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685800" y="3456432"/>
            <a:ext cx="256032" cy="256032"/>
          </a:xfrm>
          <a:prstGeom prst="rect">
            <a:avLst/>
          </a:prstGeom>
        </p:spPr>
      </p:pic>
      <p:sp>
        <p:nvSpPr>
          <p:cNvPr id="8" name="Text 4"/>
          <p:cNvSpPr/>
          <p:nvPr/>
        </p:nvSpPr>
        <p:spPr>
          <a:xfrm>
            <a:off x="1051560" y="3429000"/>
            <a:ext cx="3657600" cy="292608"/>
          </a:xfrm>
          <a:prstGeom prst="rect">
            <a:avLst/>
          </a:prstGeom>
          <a:noFill/>
          <a:ln/>
        </p:spPr>
        <p:txBody>
          <a:bodyPr wrap="square" lIns="0" tIns="0" rIns="0" bIns="0" rtlCol="0" anchor="ctr"/>
          <a:lstStyle/>
          <a:p>
            <a:pPr marL="0" indent="0">
              <a:buNone/>
            </a:pPr>
            <a:r>
              <a:rPr lang="en-US" sz="1400" b="1" dirty="0">
                <a:solidFill>
                  <a:srgbClr val="0891B2"/>
                </a:solidFill>
                <a:latin typeface="Times New Roman" panose="02020603050405020304" pitchFamily="18" charset="0"/>
                <a:ea typeface="Calibri" pitchFamily="34" charset="-122"/>
                <a:cs typeface="Times New Roman" panose="02020603050405020304" pitchFamily="18" charset="0"/>
              </a:rPr>
              <a:t>Business Interpretation</a:t>
            </a:r>
            <a:endParaRPr lang="en-US" sz="1400" dirty="0">
              <a:latin typeface="Times New Roman" panose="02020603050405020304" pitchFamily="18" charset="0"/>
              <a:cs typeface="Times New Roman" panose="02020603050405020304" pitchFamily="18" charset="0"/>
            </a:endParaRPr>
          </a:p>
        </p:txBody>
      </p:sp>
      <p:sp>
        <p:nvSpPr>
          <p:cNvPr id="9" name="Text 5"/>
          <p:cNvSpPr/>
          <p:nvPr/>
        </p:nvSpPr>
        <p:spPr>
          <a:xfrm>
            <a:off x="685800" y="3794760"/>
            <a:ext cx="7772400" cy="914400"/>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Battery shows the highest outlier rate (28.1%) because the IQR is nearly zero (Q1=Q3=5000mAh)—the market has overwhelmingly standardized on 5,000 mAh batteries, making any deviation (e.g., 7000 mAh power banks or 800 mAh feature phones) statistically “outlier.” RAM has zero outliers, confirming that 2–8 GB is a well-bounded specification range. Memory outliers (10.2%) represent 256 GB premium configurations. Price outliers (4.6%) are genuine flagship devices priced above ₹34,265—not data errors—and are valuable for understanding the premium segment. These outliers should be retained for model training as they capture the full price spectrum and enable accurate prediction across budget, mid-range, and premium tiers.</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182879" y="0"/>
            <a:ext cx="8595361" cy="685800"/>
          </a:xfrm>
          <a:prstGeom prst="rect">
            <a:avLst/>
          </a:prstGeom>
          <a:noFill/>
          <a:ln/>
        </p:spPr>
        <p:txBody>
          <a:bodyPr wrap="square" lIns="0" tIns="0" rIns="0" bIns="0" rtlCol="0" anchor="ctr"/>
          <a:lstStyle/>
          <a:p>
            <a:pPr marL="0" indent="0" algn="ctr">
              <a:buNone/>
            </a:pPr>
            <a:r>
              <a:rPr lang="en-US" sz="2300" b="1" dirty="0">
                <a:solidFill>
                  <a:srgbClr val="FFFFFF"/>
                </a:solidFill>
                <a:latin typeface="Times New Roman" panose="02020603050405020304" pitchFamily="18" charset="0"/>
                <a:ea typeface="Georgia" pitchFamily="34" charset="-122"/>
                <a:cs typeface="Times New Roman" panose="02020603050405020304" pitchFamily="18" charset="0"/>
              </a:rPr>
              <a:t>Correlation Analysis: What Drives Smartphone Price?</a:t>
            </a:r>
            <a:endParaRPr lang="en-US" sz="2300" dirty="0">
              <a:latin typeface="Times New Roman" panose="02020603050405020304" pitchFamily="18" charset="0"/>
              <a:cs typeface="Times New Roman" panose="02020603050405020304" pitchFamily="18" charset="0"/>
            </a:endParaRPr>
          </a:p>
        </p:txBody>
      </p:sp>
      <p:sp>
        <p:nvSpPr>
          <p:cNvPr id="3" name="Text 1"/>
          <p:cNvSpPr/>
          <p:nvPr/>
        </p:nvSpPr>
        <p:spPr>
          <a:xfrm>
            <a:off x="407254" y="560934"/>
            <a:ext cx="8370986" cy="518058"/>
          </a:xfrm>
          <a:prstGeom prst="rect">
            <a:avLst/>
          </a:prstGeom>
          <a:noFill/>
          <a:ln/>
        </p:spPr>
        <p:txBody>
          <a:bodyPr wrap="square" lIns="0" tIns="0" rIns="0" bIns="0" rtlCol="0" anchor="ctr"/>
          <a:lstStyle/>
          <a:p>
            <a:pPr marL="0" indent="0" algn="just">
              <a:buNone/>
            </a:pPr>
            <a:r>
              <a:rPr lang="en-US" sz="1100" b="1" dirty="0">
                <a:solidFill>
                  <a:srgbClr val="CADCFC"/>
                </a:solidFill>
                <a:latin typeface="Times New Roman" panose="02020603050405020304" pitchFamily="18" charset="0"/>
                <a:ea typeface="Calibri" pitchFamily="34" charset="-122"/>
                <a:cs typeface="Times New Roman" panose="02020603050405020304" pitchFamily="18" charset="0"/>
              </a:rPr>
              <a:t>Pearson correlation coefficients quantify the linear relationship strength between each hardware specification and smartphone price. Values range from -1 (perfect negative) to +1 (perfect positive), with |r| &gt; 0.5 indicating a strong association. Understanding these relationships is critical for identifying the most influential pricing determinants and guiding feature selection for predictive models.</a:t>
            </a:r>
            <a:endParaRPr lang="en-US" sz="1100" b="1" dirty="0">
              <a:latin typeface="Times New Roman" panose="02020603050405020304" pitchFamily="18" charset="0"/>
              <a:cs typeface="Times New Roman" panose="02020603050405020304" pitchFamily="18" charset="0"/>
            </a:endParaRPr>
          </a:p>
        </p:txBody>
      </p:sp>
      <p:sp>
        <p:nvSpPr>
          <p:cNvPr id="5" name="Shape 2"/>
          <p:cNvSpPr/>
          <p:nvPr/>
        </p:nvSpPr>
        <p:spPr>
          <a:xfrm>
            <a:off x="5486400" y="1188720"/>
            <a:ext cx="3291840" cy="3830971"/>
          </a:xfrm>
          <a:prstGeom prst="rect">
            <a:avLst/>
          </a:prstGeom>
          <a:solidFill>
            <a:srgbClr val="1E2761"/>
          </a:solidFill>
          <a:ln/>
        </p:spPr>
        <p:txBody>
          <a:bodyPr/>
          <a:lstStyle/>
          <a:p>
            <a:pPr algn="just"/>
            <a:endParaRPr lang="en-IN" dirty="0"/>
          </a:p>
        </p:txBody>
      </p:sp>
      <p:sp>
        <p:nvSpPr>
          <p:cNvPr id="6" name="Text 3"/>
          <p:cNvSpPr/>
          <p:nvPr/>
        </p:nvSpPr>
        <p:spPr>
          <a:xfrm>
            <a:off x="5669280" y="1188720"/>
            <a:ext cx="2926080" cy="318983"/>
          </a:xfrm>
          <a:prstGeom prst="rect">
            <a:avLst/>
          </a:prstGeom>
          <a:noFill/>
          <a:ln/>
        </p:spPr>
        <p:txBody>
          <a:bodyPr wrap="square" lIns="0" tIns="0" rIns="0" bIns="0" rtlCol="0" anchor="ctr"/>
          <a:lstStyle/>
          <a:p>
            <a:pPr marL="0" indent="0" algn="ctr">
              <a:buNone/>
            </a:pPr>
            <a:r>
              <a:rPr lang="en-US" sz="1400" b="1" dirty="0">
                <a:solidFill>
                  <a:srgbClr val="0891B2"/>
                </a:solidFill>
                <a:latin typeface="Times New Roman" panose="02020603050405020304" pitchFamily="18" charset="0"/>
                <a:ea typeface="Calibri" pitchFamily="34" charset="-122"/>
                <a:cs typeface="Times New Roman" panose="02020603050405020304" pitchFamily="18" charset="0"/>
              </a:rPr>
              <a:t>Detailed Findings</a:t>
            </a:r>
            <a:endParaRPr lang="en-US" sz="1400" dirty="0">
              <a:latin typeface="Times New Roman" panose="02020603050405020304" pitchFamily="18" charset="0"/>
              <a:cs typeface="Times New Roman" panose="02020603050405020304" pitchFamily="18" charset="0"/>
            </a:endParaRPr>
          </a:p>
        </p:txBody>
      </p:sp>
      <p:sp>
        <p:nvSpPr>
          <p:cNvPr id="7" name="Text 4"/>
          <p:cNvSpPr/>
          <p:nvPr/>
        </p:nvSpPr>
        <p:spPr>
          <a:xfrm>
            <a:off x="5669280" y="1507704"/>
            <a:ext cx="2926080" cy="274474"/>
          </a:xfrm>
          <a:prstGeom prst="rect">
            <a:avLst/>
          </a:prstGeom>
          <a:noFill/>
          <a:ln/>
        </p:spPr>
        <p:txBody>
          <a:bodyPr wrap="square" lIns="0" tIns="0" rIns="0" bIns="0" rtlCol="0" anchor="ct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Storage (r=0.567) – Strongest</a:t>
            </a:r>
            <a:endParaRPr lang="en-US" sz="1000" dirty="0">
              <a:latin typeface="Times New Roman" panose="02020603050405020304" pitchFamily="18" charset="0"/>
              <a:cs typeface="Times New Roman" panose="02020603050405020304" pitchFamily="18" charset="0"/>
            </a:endParaRPr>
          </a:p>
        </p:txBody>
      </p:sp>
      <p:sp>
        <p:nvSpPr>
          <p:cNvPr id="8" name="Text 5"/>
          <p:cNvSpPr/>
          <p:nvPr/>
        </p:nvSpPr>
        <p:spPr>
          <a:xfrm>
            <a:off x="5669280" y="1847088"/>
            <a:ext cx="2926080" cy="530352"/>
          </a:xfrm>
          <a:prstGeom prst="rect">
            <a:avLst/>
          </a:prstGeom>
          <a:noFill/>
          <a:ln/>
        </p:spPr>
        <p:txBody>
          <a:bodyPr wrap="square" lIns="0" tIns="0" rIns="0" bIns="0" rtlCol="0" anchor="ctr"/>
          <a:lstStyle/>
          <a:p>
            <a:pPr marL="0" indent="0" algn="just">
              <a:buNone/>
            </a:pPr>
            <a:r>
              <a:rPr lang="en-US" sz="900" dirty="0">
                <a:solidFill>
                  <a:srgbClr val="CADCFC"/>
                </a:solidFill>
                <a:latin typeface="Times New Roman" panose="02020603050405020304" pitchFamily="18" charset="0"/>
                <a:ea typeface="Calibri" pitchFamily="34" charset="-122"/>
                <a:cs typeface="Times New Roman" panose="02020603050405020304" pitchFamily="18" charset="0"/>
              </a:rPr>
              <a:t>Storage capacity shows the strongest positive linear relationship with price. Higher storage tiers (128GB, 256GB) command significantly higher prices, reflecting both manufacturing cost and consumer willingness to pay for capacity.</a:t>
            </a:r>
            <a:endParaRPr lang="en-US" sz="900" dirty="0">
              <a:latin typeface="Times New Roman" panose="02020603050405020304" pitchFamily="18" charset="0"/>
              <a:cs typeface="Times New Roman" panose="02020603050405020304" pitchFamily="18" charset="0"/>
            </a:endParaRPr>
          </a:p>
        </p:txBody>
      </p:sp>
      <p:sp>
        <p:nvSpPr>
          <p:cNvPr id="9" name="Text 6"/>
          <p:cNvSpPr/>
          <p:nvPr/>
        </p:nvSpPr>
        <p:spPr>
          <a:xfrm>
            <a:off x="5669280" y="2423160"/>
            <a:ext cx="2926080" cy="20116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RAM &amp; Camera (r=0.532) – Strong</a:t>
            </a:r>
            <a:endParaRPr lang="en-US" sz="850" dirty="0"/>
          </a:p>
        </p:txBody>
      </p:sp>
      <p:sp>
        <p:nvSpPr>
          <p:cNvPr id="10" name="Text 7"/>
          <p:cNvSpPr/>
          <p:nvPr/>
        </p:nvSpPr>
        <p:spPr>
          <a:xfrm>
            <a:off x="5669280" y="2624327"/>
            <a:ext cx="2926080" cy="595263"/>
          </a:xfrm>
          <a:prstGeom prst="rect">
            <a:avLst/>
          </a:prstGeom>
          <a:noFill/>
          <a:ln/>
        </p:spPr>
        <p:txBody>
          <a:bodyPr wrap="square" lIns="0" tIns="0" rIns="0" bIns="0" rtlCol="0" anchor="ctr"/>
          <a:lstStyle/>
          <a:p>
            <a:pPr marL="0" indent="0" algn="just">
              <a:buNone/>
            </a:pPr>
            <a:r>
              <a:rPr lang="en-US" sz="900" dirty="0">
                <a:solidFill>
                  <a:srgbClr val="CADCFC"/>
                </a:solidFill>
                <a:latin typeface="Times New Roman" panose="02020603050405020304" pitchFamily="18" charset="0"/>
                <a:ea typeface="Calibri" pitchFamily="34" charset="-122"/>
                <a:cs typeface="Times New Roman" panose="02020603050405020304" pitchFamily="18" charset="0"/>
              </a:rPr>
              <a:t>RAM and Front Camera are tied for second. More RAM enables better multitasking and commands premium pricing. Higher front camera resolution correlates with selfie-focused, higher-priced devices.</a:t>
            </a:r>
            <a:endParaRPr lang="en-US" sz="900" dirty="0">
              <a:latin typeface="Times New Roman" panose="02020603050405020304" pitchFamily="18" charset="0"/>
              <a:cs typeface="Times New Roman" panose="02020603050405020304" pitchFamily="18" charset="0"/>
            </a:endParaRPr>
          </a:p>
        </p:txBody>
      </p:sp>
      <p:sp>
        <p:nvSpPr>
          <p:cNvPr id="11" name="Text 8"/>
          <p:cNvSpPr/>
          <p:nvPr/>
        </p:nvSpPr>
        <p:spPr>
          <a:xfrm>
            <a:off x="5669280" y="3219591"/>
            <a:ext cx="2926080" cy="298755"/>
          </a:xfrm>
          <a:prstGeom prst="rect">
            <a:avLst/>
          </a:prstGeom>
          <a:noFill/>
          <a:ln/>
        </p:spPr>
        <p:txBody>
          <a:bodyPr wrap="square" lIns="0" tIns="0" rIns="0" bIns="0" rtlCol="0" anchor="ct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Battery (r=0.288) – Weak</a:t>
            </a:r>
            <a:endParaRPr lang="en-US" sz="1000" dirty="0">
              <a:latin typeface="Times New Roman" panose="02020603050405020304" pitchFamily="18" charset="0"/>
              <a:cs typeface="Times New Roman" panose="02020603050405020304" pitchFamily="18" charset="0"/>
            </a:endParaRPr>
          </a:p>
        </p:txBody>
      </p:sp>
      <p:sp>
        <p:nvSpPr>
          <p:cNvPr id="12" name="Text 9"/>
          <p:cNvSpPr/>
          <p:nvPr/>
        </p:nvSpPr>
        <p:spPr>
          <a:xfrm>
            <a:off x="5669280" y="3536519"/>
            <a:ext cx="2926080" cy="530352"/>
          </a:xfrm>
          <a:prstGeom prst="rect">
            <a:avLst/>
          </a:prstGeom>
          <a:noFill/>
          <a:ln/>
        </p:spPr>
        <p:txBody>
          <a:bodyPr wrap="square" lIns="0" tIns="0" rIns="0" bIns="0" rtlCol="0" anchor="ctr"/>
          <a:lstStyle/>
          <a:p>
            <a:pPr marL="0" indent="0" algn="just">
              <a:buNone/>
            </a:pPr>
            <a:r>
              <a:rPr lang="en-US" sz="900" dirty="0">
                <a:solidFill>
                  <a:srgbClr val="CADCFC"/>
                </a:solidFill>
                <a:latin typeface="Times New Roman" panose="02020603050405020304" pitchFamily="18" charset="0"/>
                <a:ea typeface="Calibri" pitchFamily="34" charset="-122"/>
                <a:cs typeface="Times New Roman" panose="02020603050405020304" pitchFamily="18" charset="0"/>
              </a:rPr>
              <a:t>Battery capacity has a surprisingly weak correlation with price. Since 5,000 mAh is standardized, battery size alone does not differentiate pricing. The relationship is diluted by the market’s convergence on a single battery standard.</a:t>
            </a:r>
            <a:endParaRPr lang="en-US" sz="900" dirty="0">
              <a:latin typeface="Times New Roman" panose="02020603050405020304" pitchFamily="18" charset="0"/>
              <a:cs typeface="Times New Roman" panose="02020603050405020304" pitchFamily="18" charset="0"/>
            </a:endParaRPr>
          </a:p>
        </p:txBody>
      </p:sp>
      <p:sp>
        <p:nvSpPr>
          <p:cNvPr id="13" name="Text 10"/>
          <p:cNvSpPr/>
          <p:nvPr/>
        </p:nvSpPr>
        <p:spPr>
          <a:xfrm>
            <a:off x="5669280" y="4131782"/>
            <a:ext cx="2926080" cy="201168"/>
          </a:xfrm>
          <a:prstGeom prst="rect">
            <a:avLst/>
          </a:prstGeom>
          <a:noFill/>
          <a:ln/>
        </p:spPr>
        <p:txBody>
          <a:bodyPr wrap="square" lIns="0" tIns="0" rIns="0" bIns="0" rtlCol="0" anchor="ct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Height (r=0.176) – Negligible</a:t>
            </a:r>
            <a:endParaRPr lang="en-US" sz="1000" dirty="0">
              <a:latin typeface="Times New Roman" panose="02020603050405020304" pitchFamily="18" charset="0"/>
              <a:cs typeface="Times New Roman" panose="02020603050405020304" pitchFamily="18" charset="0"/>
            </a:endParaRPr>
          </a:p>
        </p:txBody>
      </p:sp>
      <p:sp>
        <p:nvSpPr>
          <p:cNvPr id="14" name="Text 11"/>
          <p:cNvSpPr/>
          <p:nvPr/>
        </p:nvSpPr>
        <p:spPr>
          <a:xfrm>
            <a:off x="5669280" y="4351122"/>
            <a:ext cx="2926080" cy="530352"/>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Mobile height has minimal price impact, confirming that physical form factor is not a primary pricing driver in this market segment.</a:t>
            </a:r>
            <a:endParaRPr lang="en-US" sz="1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3BC36F00-A9EB-DB99-08A0-802FE1794BE4}"/>
              </a:ext>
            </a:extLst>
          </p:cNvPr>
          <p:cNvPicPr>
            <a:picLocks noChangeAspect="1"/>
          </p:cNvPicPr>
          <p:nvPr/>
        </p:nvPicPr>
        <p:blipFill>
          <a:blip r:embed="rId3"/>
          <a:stretch>
            <a:fillRect/>
          </a:stretch>
        </p:blipFill>
        <p:spPr>
          <a:xfrm>
            <a:off x="182879" y="1188720"/>
            <a:ext cx="5249734" cy="383097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73152" y="82296"/>
            <a:ext cx="9070848" cy="457200"/>
          </a:xfrm>
          <a:prstGeom prst="rect">
            <a:avLst/>
          </a:prstGeom>
          <a:noFill/>
          <a:ln/>
        </p:spPr>
        <p:txBody>
          <a:bodyPr wrap="square" lIns="0" tIns="0" rIns="0" bIns="0" rtlCol="0" anchor="ctr"/>
          <a:lstStyle/>
          <a:p>
            <a:pPr marL="0" indent="0" algn="ctr">
              <a:buNone/>
            </a:pPr>
            <a:r>
              <a:rPr lang="en-US" sz="2500" b="1" dirty="0">
                <a:solidFill>
                  <a:srgbClr val="1E293B"/>
                </a:solidFill>
                <a:latin typeface="Georgia" pitchFamily="34" charset="0"/>
                <a:ea typeface="Georgia" pitchFamily="34" charset="-122"/>
                <a:cs typeface="Georgia" pitchFamily="34" charset="-120"/>
              </a:rPr>
              <a:t>Statistical Hypothesis Testing</a:t>
            </a:r>
            <a:endParaRPr lang="en-US" sz="2500" dirty="0"/>
          </a:p>
        </p:txBody>
      </p:sp>
      <p:sp>
        <p:nvSpPr>
          <p:cNvPr id="4" name="Text 2"/>
          <p:cNvSpPr/>
          <p:nvPr/>
        </p:nvSpPr>
        <p:spPr>
          <a:xfrm>
            <a:off x="190500" y="539496"/>
            <a:ext cx="8877300" cy="521208"/>
          </a:xfrm>
          <a:prstGeom prst="rect">
            <a:avLst/>
          </a:prstGeom>
          <a:noFill/>
          <a:ln/>
        </p:spPr>
        <p:txBody>
          <a:bodyPr wrap="square" lIns="0" tIns="0" rIns="0" bIns="0" rtlCol="0" anchor="ctr"/>
          <a:lstStyle/>
          <a:p>
            <a:pPr algn="just"/>
            <a:r>
              <a:rPr lang="en-US" sz="1200" b="1" dirty="0">
                <a:solidFill>
                  <a:srgbClr val="64748B"/>
                </a:solidFill>
                <a:latin typeface="Times New Roman" panose="02020603050405020304" pitchFamily="18" charset="0"/>
                <a:ea typeface="Calibri" pitchFamily="34" charset="-122"/>
                <a:cs typeface="Times New Roman" panose="02020603050405020304" pitchFamily="18" charset="0"/>
              </a:rPr>
              <a:t>Hypothesis testing validates whether observed relationships between specifications and price are statistically significant or merely due to random chance. All tests were conducted at the 95% confidence level (α = 0.05). The results confirm that every major feature category is statistically significantly associated with smartphone pricing.</a:t>
            </a:r>
            <a:endParaRPr lang="en-US" sz="1200" b="1" dirty="0">
              <a:latin typeface="Times New Roman" panose="02020603050405020304" pitchFamily="18" charset="0"/>
              <a:cs typeface="Times New Roman" panose="02020603050405020304" pitchFamily="18" charset="0"/>
            </a:endParaRPr>
          </a:p>
        </p:txBody>
      </p:sp>
      <p:sp>
        <p:nvSpPr>
          <p:cNvPr id="5" name="Shape 3"/>
          <p:cNvSpPr/>
          <p:nvPr/>
        </p:nvSpPr>
        <p:spPr>
          <a:xfrm>
            <a:off x="190500" y="1143000"/>
            <a:ext cx="8877300" cy="23012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182880" y="1142999"/>
            <a:ext cx="45719" cy="2301239"/>
          </a:xfrm>
          <a:prstGeom prst="rect">
            <a:avLst/>
          </a:prstGeom>
          <a:solidFill>
            <a:srgbClr val="0891B2"/>
          </a:solidFill>
          <a:ln/>
        </p:spPr>
        <p:txBody>
          <a:bodyPr/>
          <a:lstStyle/>
          <a:p>
            <a:endParaRPr lang="en-IN"/>
          </a:p>
        </p:txBody>
      </p:sp>
      <p:sp>
        <p:nvSpPr>
          <p:cNvPr id="7" name="Text 5"/>
          <p:cNvSpPr/>
          <p:nvPr/>
        </p:nvSpPr>
        <p:spPr>
          <a:xfrm>
            <a:off x="260604" y="1143000"/>
            <a:ext cx="8807196" cy="310896"/>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Chi-Square Test of Independence (Categorical Features vs. Price Category)</a:t>
            </a:r>
            <a:endParaRPr lang="en-US" sz="1400" dirty="0"/>
          </a:p>
        </p:txBody>
      </p:sp>
      <p:sp>
        <p:nvSpPr>
          <p:cNvPr id="8" name="Text 6"/>
          <p:cNvSpPr/>
          <p:nvPr/>
        </p:nvSpPr>
        <p:spPr>
          <a:xfrm>
            <a:off x="260604" y="1380744"/>
            <a:ext cx="8807196" cy="617220"/>
          </a:xfrm>
          <a:prstGeom prst="rect">
            <a:avLst/>
          </a:prstGeom>
          <a:noFill/>
          <a:ln/>
        </p:spPr>
        <p:txBody>
          <a:bodyPr wrap="square" lIns="0" tIns="0" rIns="0" bIns="0" rtlCol="0" anchor="ctr"/>
          <a:lstStyle/>
          <a:p>
            <a:pPr algn="just"/>
            <a:r>
              <a:rPr lang="en-US" sz="1050" dirty="0">
                <a:solidFill>
                  <a:srgbClr val="64748B"/>
                </a:solidFill>
                <a:latin typeface="Times New Roman" panose="02020603050405020304" pitchFamily="18" charset="0"/>
                <a:ea typeface="Calibri" pitchFamily="34" charset="-122"/>
                <a:cs typeface="Times New Roman" panose="02020603050405020304" pitchFamily="18" charset="0"/>
              </a:rPr>
              <a:t>The Chi-Square test determines whether categorical variables (processor family, storage tier, camera category, etc.) are independent of price segment or whether significant associations exist. A significant result (p &lt; 0.05) indicates that the feature’s categories are not randomly distributed across price tiers—specific feature values are strongly linked to particular price ranges</a:t>
            </a: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p:txBody>
      </p:sp>
      <p:graphicFrame>
        <p:nvGraphicFramePr>
          <p:cNvPr id="15" name="Table 0"/>
          <p:cNvGraphicFramePr>
            <a:graphicFrameLocks noGrp="1"/>
          </p:cNvGraphicFramePr>
          <p:nvPr>
            <p:extLst>
              <p:ext uri="{D42A27DB-BD31-4B8C-83A1-F6EECF244321}">
                <p14:modId xmlns:p14="http://schemas.microsoft.com/office/powerpoint/2010/main" val="1755445282"/>
              </p:ext>
            </p:extLst>
          </p:nvPr>
        </p:nvGraphicFramePr>
        <p:xfrm>
          <a:off x="260604" y="1997964"/>
          <a:ext cx="8761478" cy="1463040"/>
        </p:xfrm>
        <a:graphic>
          <a:graphicData uri="http://schemas.openxmlformats.org/drawingml/2006/table">
            <a:tbl>
              <a:tblPr/>
              <a:tblGrid>
                <a:gridCol w="2319215">
                  <a:extLst>
                    <a:ext uri="{9D8B030D-6E8A-4147-A177-3AD203B41FA5}">
                      <a16:colId xmlns:a16="http://schemas.microsoft.com/office/drawing/2014/main" val="20000"/>
                    </a:ext>
                  </a:extLst>
                </a:gridCol>
                <a:gridCol w="1417298">
                  <a:extLst>
                    <a:ext uri="{9D8B030D-6E8A-4147-A177-3AD203B41FA5}">
                      <a16:colId xmlns:a16="http://schemas.microsoft.com/office/drawing/2014/main" val="20001"/>
                    </a:ext>
                  </a:extLst>
                </a:gridCol>
                <a:gridCol w="1674988">
                  <a:extLst>
                    <a:ext uri="{9D8B030D-6E8A-4147-A177-3AD203B41FA5}">
                      <a16:colId xmlns:a16="http://schemas.microsoft.com/office/drawing/2014/main" val="20002"/>
                    </a:ext>
                  </a:extLst>
                </a:gridCol>
                <a:gridCol w="1417298">
                  <a:extLst>
                    <a:ext uri="{9D8B030D-6E8A-4147-A177-3AD203B41FA5}">
                      <a16:colId xmlns:a16="http://schemas.microsoft.com/office/drawing/2014/main" val="20003"/>
                    </a:ext>
                  </a:extLst>
                </a:gridCol>
                <a:gridCol w="1932679">
                  <a:extLst>
                    <a:ext uri="{9D8B030D-6E8A-4147-A177-3AD203B41FA5}">
                      <a16:colId xmlns:a16="http://schemas.microsoft.com/office/drawing/2014/main" val="20004"/>
                    </a:ext>
                  </a:extLst>
                </a:gridCol>
              </a:tblGrid>
              <a:tr h="188214">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Feature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χ² Statistic</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Degrees of Freedom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p-value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188214">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Processor Family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397.46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&lt; 0.00001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Strongly Significant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188214">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Storage Category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344.50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&lt; 0.00001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Strongly Significant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188214">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Front Camera Category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320.88</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&lt; 0.00001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Strongly Significant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188214">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Rear Camera Category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293.49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&lt; 0.00001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Strongly Significant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188214">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RAM Category</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293.13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&lt; 0.00001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Strongly Significant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Shape 7"/>
          <p:cNvSpPr/>
          <p:nvPr/>
        </p:nvSpPr>
        <p:spPr>
          <a:xfrm>
            <a:off x="228599" y="3444240"/>
            <a:ext cx="4210813" cy="157581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dirty="0"/>
          </a:p>
        </p:txBody>
      </p:sp>
      <p:sp>
        <p:nvSpPr>
          <p:cNvPr id="11" name="Shape 8"/>
          <p:cNvSpPr/>
          <p:nvPr/>
        </p:nvSpPr>
        <p:spPr>
          <a:xfrm>
            <a:off x="190500" y="3444240"/>
            <a:ext cx="45719" cy="1575816"/>
          </a:xfrm>
          <a:prstGeom prst="rect">
            <a:avLst/>
          </a:prstGeom>
          <a:solidFill>
            <a:srgbClr val="10B981"/>
          </a:solidFill>
          <a:ln/>
        </p:spPr>
        <p:txBody>
          <a:bodyPr/>
          <a:lstStyle/>
          <a:p>
            <a:endParaRPr lang="en-IN"/>
          </a:p>
        </p:txBody>
      </p:sp>
      <p:sp>
        <p:nvSpPr>
          <p:cNvPr id="12" name="Text 9"/>
          <p:cNvSpPr/>
          <p:nvPr/>
        </p:nvSpPr>
        <p:spPr>
          <a:xfrm>
            <a:off x="685800" y="3504438"/>
            <a:ext cx="347472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One-Way ANOVA (Price by </a:t>
            </a: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Processor</a:t>
            </a:r>
            <a:r>
              <a:rPr lang="en-US" sz="1400" b="1" dirty="0">
                <a:solidFill>
                  <a:srgbClr val="1E293B"/>
                </a:solidFill>
                <a:latin typeface="Calibri" pitchFamily="34" charset="0"/>
                <a:ea typeface="Calibri" pitchFamily="34" charset="-122"/>
                <a:cs typeface="Calibri" pitchFamily="34" charset="-120"/>
              </a:rPr>
              <a:t> Family)</a:t>
            </a:r>
            <a:endParaRPr lang="en-US" sz="1400" dirty="0"/>
          </a:p>
        </p:txBody>
      </p:sp>
      <p:sp>
        <p:nvSpPr>
          <p:cNvPr id="13" name="Text 10"/>
          <p:cNvSpPr/>
          <p:nvPr/>
        </p:nvSpPr>
        <p:spPr>
          <a:xfrm>
            <a:off x="260604" y="3824478"/>
            <a:ext cx="3899916" cy="1090422"/>
          </a:xfrm>
          <a:prstGeom prst="rect">
            <a:avLst/>
          </a:prstGeom>
          <a:noFill/>
          <a:ln/>
        </p:spPr>
        <p:txBody>
          <a:bodyPr wrap="square" lIns="0" tIns="0" rIns="0" bIns="0" rtlCol="0" anchor="ctr"/>
          <a:lstStyle/>
          <a:p>
            <a:pPr marL="0" indent="0" algn="just">
              <a:spcAft>
                <a:spcPts val="400"/>
              </a:spcAft>
              <a:buNone/>
            </a:pPr>
            <a:r>
              <a:rPr lang="en-US" sz="900" b="1" dirty="0">
                <a:solidFill>
                  <a:srgbClr val="0891B2"/>
                </a:solidFill>
                <a:latin typeface="Times New Roman" panose="02020603050405020304" pitchFamily="18" charset="0"/>
                <a:ea typeface="Calibri" pitchFamily="34" charset="-122"/>
                <a:cs typeface="Times New Roman" panose="02020603050405020304" pitchFamily="18" charset="0"/>
              </a:rPr>
              <a:t>F-Statistic: 52.83  |  p-value: &lt; 0.0001</a:t>
            </a:r>
            <a:endParaRPr lang="en-US" sz="900" dirty="0">
              <a:latin typeface="Times New Roman" panose="02020603050405020304" pitchFamily="18" charset="0"/>
              <a:cs typeface="Times New Roman" panose="02020603050405020304" pitchFamily="18" charset="0"/>
            </a:endParaRPr>
          </a:p>
          <a:p>
            <a:pPr marL="0" indent="0" algn="just">
              <a:buNone/>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The ANOVA test confirms that processor family has a statistically significant impact on smartphone price (reject H₀). Different processor tiers—from budget Unisoc chips to premium Snapdragon 8 Gen 2—correspond to distinct and significantly different price segments. The high F-statistic indicates substantial between-group variance relative to within-group variance, meaning processor choice is a powerful price differentiator.</a:t>
            </a:r>
            <a:endParaRPr lang="en-US" sz="900" dirty="0">
              <a:latin typeface="Times New Roman" panose="02020603050405020304" pitchFamily="18" charset="0"/>
              <a:cs typeface="Times New Roman" panose="02020603050405020304" pitchFamily="18" charset="0"/>
            </a:endParaRPr>
          </a:p>
        </p:txBody>
      </p:sp>
      <p:sp>
        <p:nvSpPr>
          <p:cNvPr id="14" name="Shape 11"/>
          <p:cNvSpPr/>
          <p:nvPr/>
        </p:nvSpPr>
        <p:spPr>
          <a:xfrm>
            <a:off x="4439411" y="3434772"/>
            <a:ext cx="4628389" cy="157581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9" name="Shape 12"/>
          <p:cNvSpPr/>
          <p:nvPr/>
        </p:nvSpPr>
        <p:spPr>
          <a:xfrm>
            <a:off x="4435206" y="3434772"/>
            <a:ext cx="45719" cy="1575816"/>
          </a:xfrm>
          <a:prstGeom prst="rect">
            <a:avLst/>
          </a:prstGeom>
          <a:solidFill>
            <a:srgbClr val="F59E0B"/>
          </a:solidFill>
          <a:ln/>
        </p:spPr>
        <p:txBody>
          <a:bodyPr/>
          <a:lstStyle/>
          <a:p>
            <a:endParaRPr lang="en-IN"/>
          </a:p>
        </p:txBody>
      </p:sp>
      <p:sp>
        <p:nvSpPr>
          <p:cNvPr id="16" name="Text 13"/>
          <p:cNvSpPr/>
          <p:nvPr/>
        </p:nvSpPr>
        <p:spPr>
          <a:xfrm>
            <a:off x="4755611" y="3504438"/>
            <a:ext cx="4088712" cy="294894"/>
          </a:xfrm>
          <a:prstGeom prst="rect">
            <a:avLst/>
          </a:prstGeom>
          <a:noFill/>
          <a:ln/>
        </p:spPr>
        <p:txBody>
          <a:bodyPr wrap="square" lIns="0" tIns="0" rIns="0" bIns="0" rtlCol="0" anchor="ctr"/>
          <a:lstStyle/>
          <a:p>
            <a:pPr marL="0" indent="0" algn="just">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Independent Samples T-Test (RAM ≤6GB vs ≥8GB)</a:t>
            </a:r>
            <a:endParaRPr lang="en-US" sz="1400" dirty="0">
              <a:latin typeface="Times New Roman" panose="02020603050405020304" pitchFamily="18" charset="0"/>
              <a:cs typeface="Times New Roman" panose="02020603050405020304" pitchFamily="18" charset="0"/>
            </a:endParaRPr>
          </a:p>
        </p:txBody>
      </p:sp>
      <p:sp>
        <p:nvSpPr>
          <p:cNvPr id="17" name="Text 14"/>
          <p:cNvSpPr/>
          <p:nvPr/>
        </p:nvSpPr>
        <p:spPr>
          <a:xfrm>
            <a:off x="4485130" y="3973068"/>
            <a:ext cx="4468370" cy="914400"/>
          </a:xfrm>
          <a:prstGeom prst="rect">
            <a:avLst/>
          </a:prstGeom>
          <a:noFill/>
          <a:ln/>
        </p:spPr>
        <p:txBody>
          <a:bodyPr wrap="square" lIns="0" tIns="0" rIns="0" bIns="0" rtlCol="0" anchor="ctr"/>
          <a:lstStyle/>
          <a:p>
            <a:pPr marL="0" indent="0" algn="just">
              <a:spcAft>
                <a:spcPts val="400"/>
              </a:spcAft>
              <a:buNone/>
            </a:pPr>
            <a:r>
              <a:rPr lang="en-US" sz="1000" b="1" dirty="0">
                <a:solidFill>
                  <a:srgbClr val="0891B2"/>
                </a:solidFill>
                <a:latin typeface="Times New Roman" panose="02020603050405020304" pitchFamily="18" charset="0"/>
                <a:ea typeface="Calibri" pitchFamily="34" charset="-122"/>
                <a:cs typeface="Times New Roman" panose="02020603050405020304" pitchFamily="18" charset="0"/>
              </a:rPr>
              <a:t>t-Statistic: -11.35  |  p-value: &lt; 0.000001</a:t>
            </a:r>
            <a:endParaRPr lang="en-US" sz="1000" dirty="0">
              <a:latin typeface="Times New Roman" panose="02020603050405020304" pitchFamily="18" charset="0"/>
              <a:cs typeface="Times New Roman" panose="02020603050405020304" pitchFamily="18" charset="0"/>
            </a:endParaRPr>
          </a:p>
          <a:p>
            <a:pPr marL="0" indent="0" algn="just">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The t-test confirms that average prices differ significantly between the Standard RAM group (≤6 GB) and the High RAM group (≥8 GB). The large absolute t-value indicates a substantial price gap between these segments. This validates that RAM tier is a primary price differentiator and supports premium pricing for 8 GB configurations.</a:t>
            </a:r>
            <a:endParaRPr lang="en-US" sz="1000" dirty="0">
              <a:latin typeface="Times New Roman" panose="02020603050405020304" pitchFamily="18" charset="0"/>
              <a:cs typeface="Times New Roman" panose="02020603050405020304" pitchFamily="18" charset="0"/>
            </a:endParaRPr>
          </a:p>
        </p:txBody>
      </p:sp>
      <p:sp>
        <p:nvSpPr>
          <p:cNvPr id="18" name="Text 15"/>
          <p:cNvSpPr/>
          <p:nvPr/>
        </p:nvSpPr>
        <p:spPr>
          <a:xfrm>
            <a:off x="548640" y="4526280"/>
            <a:ext cx="8046720" cy="320040"/>
          </a:xfrm>
          <a:prstGeom prst="rect">
            <a:avLst/>
          </a:prstGeom>
          <a:noFill/>
          <a:ln/>
        </p:spPr>
        <p:txBody>
          <a:bodyPr wrap="square" lIns="0" tIns="0" rIns="0" bIns="0" rtlCol="0" anchor="ctr"/>
          <a:lstStyle/>
          <a:p>
            <a:pPr marL="0" indent="0">
              <a:buNone/>
            </a:pPr>
            <a:r>
              <a:rPr lang="en-US" sz="900" b="1" i="1" dirty="0">
                <a:solidFill>
                  <a:srgbClr val="10B981"/>
                </a:solidFill>
                <a:latin typeface="Calibri" pitchFamily="34" charset="0"/>
                <a:ea typeface="Calibri" pitchFamily="34" charset="-122"/>
                <a:cs typeface="Calibri" pitchFamily="34" charset="-120"/>
              </a:rPr>
              <a:t>.</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54864"/>
            <a:ext cx="8229600" cy="539495"/>
          </a:xfrm>
          <a:prstGeom prst="rect">
            <a:avLst/>
          </a:prstGeom>
          <a:noFill/>
          <a:ln/>
        </p:spPr>
        <p:txBody>
          <a:bodyPr wrap="square" lIns="0" tIns="0" rIns="0" bIns="0" rtlCol="0" anchor="ctr"/>
          <a:lstStyle/>
          <a:p>
            <a:pPr marL="0" indent="0" algn="ctr">
              <a:buNone/>
            </a:pPr>
            <a:r>
              <a:rPr lang="en-US" sz="2500" b="1" dirty="0">
                <a:solidFill>
                  <a:srgbClr val="FFFFFF"/>
                </a:solidFill>
                <a:latin typeface="Georgia" pitchFamily="34" charset="0"/>
                <a:ea typeface="Georgia" pitchFamily="34" charset="-122"/>
                <a:cs typeface="Georgia" pitchFamily="34" charset="-120"/>
              </a:rPr>
              <a:t>Machine Learning: Methodology &amp; Pipeline</a:t>
            </a:r>
            <a:endParaRPr lang="en-US" sz="2500" dirty="0"/>
          </a:p>
        </p:txBody>
      </p:sp>
      <p:sp>
        <p:nvSpPr>
          <p:cNvPr id="3" name="Shape 1"/>
          <p:cNvSpPr/>
          <p:nvPr/>
        </p:nvSpPr>
        <p:spPr>
          <a:xfrm>
            <a:off x="548640" y="713232"/>
            <a:ext cx="1828800" cy="0"/>
          </a:xfrm>
          <a:prstGeom prst="line">
            <a:avLst/>
          </a:prstGeom>
          <a:noFill/>
          <a:ln w="25400">
            <a:solidFill>
              <a:srgbClr val="0891B2"/>
            </a:solidFill>
            <a:prstDash val="solid"/>
          </a:ln>
        </p:spPr>
        <p:txBody>
          <a:bodyPr/>
          <a:lstStyle/>
          <a:p>
            <a:endParaRPr lang="en-IN"/>
          </a:p>
        </p:txBody>
      </p:sp>
      <p:sp>
        <p:nvSpPr>
          <p:cNvPr id="4" name="Text 2"/>
          <p:cNvSpPr/>
          <p:nvPr/>
        </p:nvSpPr>
        <p:spPr>
          <a:xfrm>
            <a:off x="548640" y="804672"/>
            <a:ext cx="8046720" cy="365760"/>
          </a:xfrm>
          <a:prstGeom prst="rect">
            <a:avLst/>
          </a:prstGeom>
          <a:noFill/>
          <a:ln/>
        </p:spPr>
        <p:txBody>
          <a:bodyPr wrap="square" lIns="0" tIns="0" rIns="0" bIns="0" rtlCol="0" anchor="ctr"/>
          <a:lstStyle/>
          <a:p>
            <a:pPr marL="0" indent="0" algn="just">
              <a:buNone/>
            </a:pPr>
            <a:r>
              <a:rPr lang="en-US" sz="1100" dirty="0">
                <a:solidFill>
                  <a:srgbClr val="CADCFC"/>
                </a:solidFill>
                <a:latin typeface="Times New Roman" panose="02020603050405020304" pitchFamily="18" charset="0"/>
                <a:ea typeface="Calibri" pitchFamily="34" charset="-122"/>
                <a:cs typeface="Times New Roman" panose="02020603050405020304" pitchFamily="18" charset="0"/>
              </a:rPr>
              <a:t>Six regression algorithms were trained and evaluated to build a smartphone price prediction system. The notebook workflow moves from feature engineering and preprocessing to model comparison, diagnostics, feature importance, and a future-phone prediction demo.</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280160"/>
            <a:ext cx="384048" cy="384048"/>
          </a:xfrm>
          <a:prstGeom prst="ellipse">
            <a:avLst/>
          </a:prstGeom>
          <a:solidFill>
            <a:srgbClr val="0891B2"/>
          </a:solidFill>
          <a:ln/>
        </p:spPr>
        <p:txBody>
          <a:bodyPr/>
          <a:lstStyle/>
          <a:p>
            <a:endParaRPr lang="en-IN" dirty="0"/>
          </a:p>
        </p:txBody>
      </p:sp>
      <p:sp>
        <p:nvSpPr>
          <p:cNvPr id="6" name="Text 4"/>
          <p:cNvSpPr/>
          <p:nvPr/>
        </p:nvSpPr>
        <p:spPr>
          <a:xfrm>
            <a:off x="457200" y="12801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60120" y="1261872"/>
            <a:ext cx="2743200" cy="20116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Feature Engineering</a:t>
            </a:r>
            <a:endParaRPr lang="en-US" sz="1200" dirty="0">
              <a:latin typeface="Times New Roman" panose="02020603050405020304" pitchFamily="18" charset="0"/>
              <a:cs typeface="Times New Roman" panose="02020603050405020304" pitchFamily="18" charset="0"/>
            </a:endParaRPr>
          </a:p>
        </p:txBody>
      </p:sp>
      <p:sp>
        <p:nvSpPr>
          <p:cNvPr id="8" name="Text 6"/>
          <p:cNvSpPr/>
          <p:nvPr/>
        </p:nvSpPr>
        <p:spPr>
          <a:xfrm>
            <a:off x="960120" y="1481328"/>
            <a:ext cx="758952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Categorical variables such as model, colour, processor and camera attributes are label/one-hot encoded, while engineered numeric features such as RAM_GB, Memory_GB, Battery_mAh and camera megapixels are prepared for modeling.</a:t>
            </a:r>
            <a:endParaRPr lang="en-US" sz="1000" dirty="0">
              <a:latin typeface="Times New Roman" panose="02020603050405020304" pitchFamily="18" charset="0"/>
              <a:cs typeface="Times New Roman" panose="02020603050405020304" pitchFamily="18" charset="0"/>
            </a:endParaRPr>
          </a:p>
        </p:txBody>
      </p:sp>
      <p:sp>
        <p:nvSpPr>
          <p:cNvPr id="9" name="Shape 7"/>
          <p:cNvSpPr/>
          <p:nvPr/>
        </p:nvSpPr>
        <p:spPr>
          <a:xfrm>
            <a:off x="457200" y="1938528"/>
            <a:ext cx="384048" cy="384048"/>
          </a:xfrm>
          <a:prstGeom prst="ellipse">
            <a:avLst/>
          </a:prstGeom>
          <a:solidFill>
            <a:srgbClr val="0891B2"/>
          </a:solidFill>
          <a:ln/>
        </p:spPr>
        <p:txBody>
          <a:bodyPr/>
          <a:lstStyle/>
          <a:p>
            <a:endParaRPr lang="en-IN"/>
          </a:p>
        </p:txBody>
      </p:sp>
      <p:sp>
        <p:nvSpPr>
          <p:cNvPr id="10" name="Text 8"/>
          <p:cNvSpPr/>
          <p:nvPr/>
        </p:nvSpPr>
        <p:spPr>
          <a:xfrm>
            <a:off x="457200" y="19385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960120" y="1920240"/>
            <a:ext cx="2743200" cy="20116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Train/Test Split &amp; Preprocessing</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960120" y="2139696"/>
            <a:ext cx="758952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The data is split into training and test sets. Scaling is applied for Linear Regression, while tree-based models use the engineered feature set directly. Encoded features preserve both hardware and brand/model information.</a:t>
            </a:r>
            <a:endParaRPr lang="en-US" sz="1000" dirty="0">
              <a:latin typeface="Times New Roman" panose="02020603050405020304" pitchFamily="18" charset="0"/>
              <a:cs typeface="Times New Roman" panose="02020603050405020304" pitchFamily="18" charset="0"/>
            </a:endParaRPr>
          </a:p>
        </p:txBody>
      </p:sp>
      <p:sp>
        <p:nvSpPr>
          <p:cNvPr id="13" name="Shape 11"/>
          <p:cNvSpPr/>
          <p:nvPr/>
        </p:nvSpPr>
        <p:spPr>
          <a:xfrm>
            <a:off x="457200" y="2596896"/>
            <a:ext cx="384048" cy="384048"/>
          </a:xfrm>
          <a:prstGeom prst="ellipse">
            <a:avLst/>
          </a:prstGeom>
          <a:solidFill>
            <a:srgbClr val="0891B2"/>
          </a:solidFill>
          <a:ln/>
        </p:spPr>
        <p:txBody>
          <a:bodyPr/>
          <a:lstStyle/>
          <a:p>
            <a:endParaRPr lang="en-IN"/>
          </a:p>
        </p:txBody>
      </p:sp>
      <p:sp>
        <p:nvSpPr>
          <p:cNvPr id="14" name="Text 12"/>
          <p:cNvSpPr/>
          <p:nvPr/>
        </p:nvSpPr>
        <p:spPr>
          <a:xfrm>
            <a:off x="457200" y="2596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960120" y="2578608"/>
            <a:ext cx="2743200" cy="20116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Model Training (6 Algorithms)</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960120" y="2798064"/>
            <a:ext cx="758952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Calibri" pitchFamily="34" charset="0"/>
                <a:ea typeface="Calibri" pitchFamily="34" charset="-122"/>
                <a:cs typeface="Calibri" pitchFamily="34" charset="-120"/>
              </a:rPr>
              <a:t>Linear Regression, Decision Tree, Random Forest, Gradient Boosting, XGBoost, and LightGBM were trained to compare baseline, single-tree, bagging, and boosting approaches for price prediction.</a:t>
            </a:r>
            <a:endParaRPr lang="en-US" sz="1000" dirty="0"/>
          </a:p>
        </p:txBody>
      </p:sp>
      <p:sp>
        <p:nvSpPr>
          <p:cNvPr id="17" name="Shape 15"/>
          <p:cNvSpPr/>
          <p:nvPr/>
        </p:nvSpPr>
        <p:spPr>
          <a:xfrm>
            <a:off x="457200" y="3255264"/>
            <a:ext cx="384048" cy="384048"/>
          </a:xfrm>
          <a:prstGeom prst="ellipse">
            <a:avLst/>
          </a:prstGeom>
          <a:solidFill>
            <a:srgbClr val="0891B2"/>
          </a:solidFill>
          <a:ln/>
        </p:spPr>
        <p:txBody>
          <a:bodyPr/>
          <a:lstStyle/>
          <a:p>
            <a:endParaRPr lang="en-IN"/>
          </a:p>
        </p:txBody>
      </p:sp>
      <p:sp>
        <p:nvSpPr>
          <p:cNvPr id="18" name="Text 16"/>
          <p:cNvSpPr/>
          <p:nvPr/>
        </p:nvSpPr>
        <p:spPr>
          <a:xfrm>
            <a:off x="457200" y="32552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960120" y="3236976"/>
            <a:ext cx="2743200" cy="20116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Evaluation Metrics</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960120" y="3456432"/>
            <a:ext cx="758952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R² Score (proportion of variance explained, higher=better), RMSE (average prediction error in ₹, lower=better), MAE (mean absolute error robust to outliers), and MAPE (percentage error for business interpretability). Multiple metrics ensure comprehensive performance assessment beyond any single measure.</a:t>
            </a:r>
            <a:endParaRPr lang="en-US" sz="1000" dirty="0">
              <a:latin typeface="Times New Roman" panose="02020603050405020304" pitchFamily="18" charset="0"/>
              <a:cs typeface="Times New Roman" panose="02020603050405020304" pitchFamily="18" charset="0"/>
            </a:endParaRPr>
          </a:p>
        </p:txBody>
      </p:sp>
      <p:sp>
        <p:nvSpPr>
          <p:cNvPr id="21" name="Shape 19"/>
          <p:cNvSpPr/>
          <p:nvPr/>
        </p:nvSpPr>
        <p:spPr>
          <a:xfrm>
            <a:off x="457200" y="3913632"/>
            <a:ext cx="384048" cy="384048"/>
          </a:xfrm>
          <a:prstGeom prst="ellipse">
            <a:avLst/>
          </a:prstGeom>
          <a:solidFill>
            <a:srgbClr val="0891B2"/>
          </a:solidFill>
          <a:ln/>
        </p:spPr>
        <p:txBody>
          <a:bodyPr/>
          <a:lstStyle/>
          <a:p>
            <a:endParaRPr lang="en-IN"/>
          </a:p>
        </p:txBody>
      </p:sp>
      <p:sp>
        <p:nvSpPr>
          <p:cNvPr id="22" name="Text 20"/>
          <p:cNvSpPr/>
          <p:nvPr/>
        </p:nvSpPr>
        <p:spPr>
          <a:xfrm>
            <a:off x="457200" y="391363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960120" y="3895344"/>
            <a:ext cx="2743200" cy="20116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Feature Importance Analysis</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960120" y="4114800"/>
            <a:ext cx="7589520" cy="384048"/>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anose="020F0502020204030204" pitchFamily="34" charset="0"/>
                <a:cs typeface="Times New Roman" panose="02020603050405020304" pitchFamily="18" charset="0"/>
              </a:rPr>
              <a:t>The best-performing model’s feature importance values are extracted to identify which attributes most influence predicted price, converting model output into business-readable pricing intelligence.</a:t>
            </a:r>
            <a:endParaRPr lang="en-US" sz="1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Shape 23"/>
          <p:cNvSpPr/>
          <p:nvPr/>
        </p:nvSpPr>
        <p:spPr>
          <a:xfrm>
            <a:off x="457200" y="4617720"/>
            <a:ext cx="8229600" cy="365760"/>
          </a:xfrm>
          <a:prstGeom prst="rect">
            <a:avLst/>
          </a:prstGeom>
          <a:solidFill>
            <a:srgbClr val="1E2761"/>
          </a:solidFill>
          <a:ln/>
        </p:spPr>
        <p:txBody>
          <a:bodyPr/>
          <a:lstStyle/>
          <a:p>
            <a:endParaRPr lang="en-IN"/>
          </a:p>
        </p:txBody>
      </p:sp>
      <p:sp>
        <p:nvSpPr>
          <p:cNvPr id="26" name="Text 24"/>
          <p:cNvSpPr/>
          <p:nvPr/>
        </p:nvSpPr>
        <p:spPr>
          <a:xfrm>
            <a:off x="640080" y="4617720"/>
            <a:ext cx="7863840" cy="365760"/>
          </a:xfrm>
          <a:prstGeom prst="rect">
            <a:avLst/>
          </a:prstGeom>
          <a:noFill/>
          <a:ln/>
        </p:spPr>
        <p:txBody>
          <a:bodyPr wrap="square" lIns="0" tIns="0" rIns="0" bIns="0" rtlCol="0" anchor="ctr"/>
          <a:lstStyle/>
          <a:p>
            <a:pPr marL="0" indent="0">
              <a:buNone/>
            </a:pPr>
            <a:r>
              <a:rPr lang="en-US" sz="800" i="1" dirty="0">
                <a:solidFill>
                  <a:srgbClr val="F59E0B"/>
                </a:solidFill>
                <a:latin typeface="Calibri" pitchFamily="34" charset="0"/>
                <a:ea typeface="Calibri" pitchFamily="34" charset="-122"/>
                <a:cs typeface="Calibri" pitchFamily="34" charset="-120"/>
              </a:rPr>
              <a:t>Notebook focus: compare model accuracy, inspect prediction error, rank feature importance, and use the selected model to estimate a future smartphone price from specification inputs.</a:t>
            </a:r>
            <a:endParaRPr lang="en-US" sz="8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228600"/>
            <a:ext cx="7315200" cy="457200"/>
          </a:xfrm>
          <a:prstGeom prst="rect">
            <a:avLst/>
          </a:prstGeom>
          <a:noFill/>
          <a:ln/>
        </p:spPr>
        <p:txBody>
          <a:bodyPr wrap="square" lIns="0" tIns="0" rIns="0" bIns="0" rtlCol="0" anchor="ctr"/>
          <a:lstStyle/>
          <a:p>
            <a:pPr marL="0" indent="0" algn="ctr">
              <a:buNone/>
            </a:pPr>
            <a:r>
              <a:rPr lang="en-US" sz="2500" b="1" dirty="0">
                <a:solidFill>
                  <a:srgbClr val="1E293B"/>
                </a:solidFill>
                <a:latin typeface="Times New Roman" panose="02020603050405020304" pitchFamily="18" charset="0"/>
                <a:ea typeface="Georgia" pitchFamily="34" charset="-122"/>
                <a:cs typeface="Times New Roman" panose="02020603050405020304" pitchFamily="18" charset="0"/>
              </a:rPr>
              <a:t>Model Performance Comparison</a:t>
            </a:r>
            <a:endParaRPr lang="en-US" sz="2500" dirty="0">
              <a:latin typeface="Times New Roman" panose="02020603050405020304" pitchFamily="18" charset="0"/>
              <a:cs typeface="Times New Roman" panose="02020603050405020304" pitchFamily="18" charset="0"/>
            </a:endParaRPr>
          </a:p>
        </p:txBody>
      </p:sp>
      <p:sp>
        <p:nvSpPr>
          <p:cNvPr id="4" name="Text 2"/>
          <p:cNvSpPr/>
          <p:nvPr/>
        </p:nvSpPr>
        <p:spPr>
          <a:xfrm>
            <a:off x="548640" y="713232"/>
            <a:ext cx="8046720" cy="365760"/>
          </a:xfrm>
          <a:prstGeom prst="rect">
            <a:avLst/>
          </a:prstGeom>
          <a:noFill/>
          <a:ln/>
        </p:spPr>
        <p:txBody>
          <a:bodyPr wrap="square" lIns="0" tIns="0" rIns="0" bIns="0" rtlCol="0" anchor="ctr"/>
          <a:lstStyle/>
          <a:p>
            <a:pPr marL="0" indent="0" algn="just">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Six machine learning models were evaluated using R², RMSE, MAE, and MAPE. In the notebook output, LightGBM ranks highest by R² and RMSE, while XGBoost records the lowest MAPE. This suggests a close ensemble-model race where the best choice depends on whether variance explained or percentage-error consistency is prioritized.</a:t>
            </a:r>
            <a:endParaRPr lang="en-US" sz="1000" dirty="0">
              <a:latin typeface="Times New Roman" panose="02020603050405020304" pitchFamily="18" charset="0"/>
              <a:cs typeface="Times New Roman" panose="02020603050405020304" pitchFamily="18" charset="0"/>
            </a:endParaRPr>
          </a:p>
        </p:txBody>
      </p:sp>
      <p:graphicFrame>
        <p:nvGraphicFramePr>
          <p:cNvPr id="5" name="Chart 0"/>
          <p:cNvGraphicFramePr/>
          <p:nvPr>
            <p:extLst>
              <p:ext uri="{D42A27DB-BD31-4B8C-83A1-F6EECF244321}">
                <p14:modId xmlns:p14="http://schemas.microsoft.com/office/powerpoint/2010/main" val="2856229736"/>
              </p:ext>
            </p:extLst>
          </p:nvPr>
        </p:nvGraphicFramePr>
        <p:xfrm>
          <a:off x="512064" y="1124712"/>
          <a:ext cx="4151376" cy="280720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2576790397"/>
              </p:ext>
            </p:extLst>
          </p:nvPr>
        </p:nvGraphicFramePr>
        <p:xfrm>
          <a:off x="4846320" y="1112520"/>
          <a:ext cx="3657600" cy="1859280"/>
        </p:xfrm>
        <a:graphic>
          <a:graphicData uri="http://schemas.openxmlformats.org/drawingml/2006/table">
            <a:tbl>
              <a:tblPr/>
              <a:tblGrid>
                <a:gridCol w="109728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tblGrid>
              <a:tr h="0">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Model</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R²</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RMSE (₹)</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MAE (₹)</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lgn="just">
                        <a:buNone/>
                      </a:pPr>
                      <a:r>
                        <a:rPr lang="en-US" sz="1000" b="1" dirty="0">
                          <a:solidFill>
                            <a:srgbClr val="FFFFFF"/>
                          </a:solidFill>
                          <a:latin typeface="Times New Roman" panose="02020603050405020304" pitchFamily="18" charset="0"/>
                          <a:ea typeface="Calibri" pitchFamily="34" charset="-122"/>
                          <a:cs typeface="Times New Roman" panose="02020603050405020304" pitchFamily="18" charset="0"/>
                        </a:rPr>
                        <a:t>MAPE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28600">
                <a:tc>
                  <a:txBody>
                    <a:bodyPr/>
                    <a:lstStyle/>
                    <a:p>
                      <a:pPr marL="0" indent="0" algn="just">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LightGBM</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b="1" dirty="0">
                          <a:solidFill>
                            <a:srgbClr val="0891B2"/>
                          </a:solidFill>
                          <a:latin typeface="Times New Roman" panose="02020603050405020304" pitchFamily="18" charset="0"/>
                          <a:ea typeface="Calibri" pitchFamily="34" charset="-122"/>
                          <a:cs typeface="Times New Roman" panose="02020603050405020304" pitchFamily="18" charset="0"/>
                        </a:rPr>
                        <a:t>0.5641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₹6,779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₹2,646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16.2%</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Random Forest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0.5581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₹6,826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₹2,523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13.0%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Gradient Boost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0.5541</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₹6,856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₹2,566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15.7%</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just">
                        <a:buNone/>
                      </a:pPr>
                      <a:r>
                        <a:rPr lang="en-US" sz="1000" b="1" dirty="0">
                          <a:solidFill>
                            <a:srgbClr val="1E293B"/>
                          </a:solidFill>
                          <a:latin typeface="Times New Roman" panose="02020603050405020304" pitchFamily="18" charset="0"/>
                          <a:ea typeface="Calibri" pitchFamily="34" charset="-122"/>
                          <a:cs typeface="Times New Roman" panose="02020603050405020304" pitchFamily="18" charset="0"/>
                        </a:rPr>
                        <a:t>XGBoost</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0.4526</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₹7,597</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b="1" dirty="0">
                          <a:solidFill>
                            <a:srgbClr val="10B981"/>
                          </a:solidFill>
                          <a:latin typeface="Times New Roman" panose="02020603050405020304" pitchFamily="18" charset="0"/>
                          <a:ea typeface="Calibri" pitchFamily="34" charset="-122"/>
                          <a:cs typeface="Times New Roman" panose="02020603050405020304" pitchFamily="18" charset="0"/>
                        </a:rPr>
                        <a:t>₹2,303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b="1" dirty="0">
                          <a:solidFill>
                            <a:srgbClr val="10B981"/>
                          </a:solidFill>
                          <a:latin typeface="Times New Roman" panose="02020603050405020304" pitchFamily="18" charset="0"/>
                          <a:ea typeface="Calibri" pitchFamily="34" charset="-122"/>
                          <a:cs typeface="Times New Roman" panose="02020603050405020304" pitchFamily="18" charset="0"/>
                        </a:rPr>
                        <a:t>10.3%</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Linear Reg.</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0.4098</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₹7,888</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₹4,964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37.5%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Decision Tree</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0.0619</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₹9,945</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₹2,910</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just">
                        <a:buNone/>
                      </a:pPr>
                      <a:r>
                        <a:rPr lang="en-US" sz="1000" dirty="0">
                          <a:solidFill>
                            <a:srgbClr val="1E293B"/>
                          </a:solidFill>
                          <a:latin typeface="Times New Roman" panose="02020603050405020304" pitchFamily="18" charset="0"/>
                          <a:ea typeface="Calibri" pitchFamily="34" charset="-122"/>
                          <a:cs typeface="Times New Roman" panose="02020603050405020304" pitchFamily="18" charset="0"/>
                        </a:rPr>
                        <a:t>12.4%</a:t>
                      </a:r>
                      <a:endParaRPr lang="en-US" sz="10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3"/>
          <p:cNvSpPr/>
          <p:nvPr/>
        </p:nvSpPr>
        <p:spPr>
          <a:xfrm>
            <a:off x="4846320" y="2926080"/>
            <a:ext cx="3840480" cy="914400"/>
          </a:xfrm>
          <a:prstGeom prst="rect">
            <a:avLst/>
          </a:prstGeom>
          <a:solidFill>
            <a:srgbClr val="1E2761"/>
          </a:solidFill>
          <a:ln/>
        </p:spPr>
        <p:txBody>
          <a:bodyPr/>
          <a:lstStyle/>
          <a:p>
            <a:endParaRPr lang="en-IN"/>
          </a:p>
        </p:txBody>
      </p:sp>
      <p:pic>
        <p:nvPicPr>
          <p:cNvPr id="8" name="Image 0" descr="preencoded.png"/>
          <p:cNvPicPr>
            <a:picLocks noChangeAspect="1"/>
          </p:cNvPicPr>
          <p:nvPr/>
        </p:nvPicPr>
        <p:blipFill>
          <a:blip r:embed="rId4"/>
          <a:stretch>
            <a:fillRect/>
          </a:stretch>
        </p:blipFill>
        <p:spPr>
          <a:xfrm>
            <a:off x="5029200" y="3063240"/>
            <a:ext cx="274320" cy="274320"/>
          </a:xfrm>
          <a:prstGeom prst="rect">
            <a:avLst/>
          </a:prstGeom>
        </p:spPr>
      </p:pic>
      <p:sp>
        <p:nvSpPr>
          <p:cNvPr id="9" name="Text 4"/>
          <p:cNvSpPr/>
          <p:nvPr/>
        </p:nvSpPr>
        <p:spPr>
          <a:xfrm>
            <a:off x="5394960" y="3017520"/>
            <a:ext cx="3108960" cy="22860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Best Overall: LightGBM</a:t>
            </a:r>
            <a:endParaRPr lang="en-US" sz="1100" dirty="0"/>
          </a:p>
        </p:txBody>
      </p:sp>
      <p:sp>
        <p:nvSpPr>
          <p:cNvPr id="10" name="Text 5"/>
          <p:cNvSpPr/>
          <p:nvPr/>
        </p:nvSpPr>
        <p:spPr>
          <a:xfrm>
            <a:off x="5029200" y="3291840"/>
            <a:ext cx="3474720" cy="457200"/>
          </a:xfrm>
          <a:prstGeom prst="rect">
            <a:avLst/>
          </a:prstGeom>
          <a:noFill/>
          <a:ln/>
        </p:spPr>
        <p:txBody>
          <a:bodyPr wrap="square" lIns="0" tIns="0" rIns="0" bIns="0" rtlCol="0" anchor="ctr"/>
          <a:lstStyle/>
          <a:p>
            <a:pPr marL="0" indent="0" algn="jus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Highest R² (0.5641) and lowest RMSE (₹6,779). LightGBM explains 56.4% of price variance while maintaining competitive MAE and MAPE across the test set.</a:t>
            </a:r>
            <a:endParaRPr lang="en-US" sz="1000" dirty="0">
              <a:latin typeface="Times New Roman" panose="02020603050405020304" pitchFamily="18" charset="0"/>
              <a:cs typeface="Times New Roman" panose="02020603050405020304" pitchFamily="18" charset="0"/>
            </a:endParaRPr>
          </a:p>
        </p:txBody>
      </p:sp>
      <p:sp>
        <p:nvSpPr>
          <p:cNvPr id="11" name="Shape 6"/>
          <p:cNvSpPr/>
          <p:nvPr/>
        </p:nvSpPr>
        <p:spPr>
          <a:xfrm>
            <a:off x="457200" y="4114800"/>
            <a:ext cx="8229600" cy="731520"/>
          </a:xfrm>
          <a:prstGeom prst="rect">
            <a:avLst/>
          </a:prstGeom>
          <a:solidFill>
            <a:srgbClr val="FFFFFF"/>
          </a:solidFill>
          <a:ln/>
          <a:effectLst>
            <a:outerShdw blurRad="101600" dist="38100" dir="8100000" algn="bl" rotWithShape="0">
              <a:srgbClr val="000000">
                <a:alpha val="12000"/>
              </a:srgbClr>
            </a:outerShdw>
          </a:effectLst>
        </p:spPr>
        <p:txBody>
          <a:bodyPr/>
          <a:lstStyle/>
          <a:p>
            <a:pPr algn="just"/>
            <a:endParaRPr lang="en-IN" dirty="0"/>
          </a:p>
        </p:txBody>
      </p:sp>
      <p:sp>
        <p:nvSpPr>
          <p:cNvPr id="12" name="Shape 7"/>
          <p:cNvSpPr/>
          <p:nvPr/>
        </p:nvSpPr>
        <p:spPr>
          <a:xfrm>
            <a:off x="457200" y="4114800"/>
            <a:ext cx="54864" cy="731520"/>
          </a:xfrm>
          <a:prstGeom prst="rect">
            <a:avLst/>
          </a:prstGeom>
          <a:solidFill>
            <a:srgbClr val="0891B2"/>
          </a:solidFill>
          <a:ln/>
        </p:spPr>
        <p:txBody>
          <a:bodyPr/>
          <a:lstStyle/>
          <a:p>
            <a:endParaRPr lang="en-IN"/>
          </a:p>
        </p:txBody>
      </p:sp>
      <p:sp>
        <p:nvSpPr>
          <p:cNvPr id="13" name="Text 8"/>
          <p:cNvSpPr/>
          <p:nvPr/>
        </p:nvSpPr>
        <p:spPr>
          <a:xfrm>
            <a:off x="685800" y="4160520"/>
            <a:ext cx="7772400" cy="640080"/>
          </a:xfrm>
          <a:prstGeom prst="rect">
            <a:avLst/>
          </a:prstGeom>
          <a:noFill/>
          <a:ln/>
        </p:spPr>
        <p:txBody>
          <a:bodyPr wrap="square" lIns="0" tIns="0" rIns="0" bIns="0" rtlCol="0" anchor="ctr"/>
          <a:lstStyle/>
          <a:p>
            <a:pPr marL="0" indent="0" algn="just">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Model Selection Insights: LightGBM, Random Forest, and Gradient Boosting perform very closely by R², indicating that ensemble approaches capture non-linear smartphone pricing patterns better than simpler baselines. XGBoost has the lowest MAPE (10.3%), making it useful when percentage-error control matters. Linear Regression underperforms due to non-linear feature interactions, and the single Decision Tree shows weak generalization.</a:t>
            </a:r>
            <a:endParaRPr lang="en-US" sz="1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228600"/>
            <a:ext cx="7315200" cy="457200"/>
          </a:xfrm>
          <a:prstGeom prst="rect">
            <a:avLst/>
          </a:prstGeom>
          <a:noFill/>
          <a:ln/>
        </p:spPr>
        <p:txBody>
          <a:bodyPr wrap="square" lIns="0" tIns="0" rIns="0" bIns="0" rtlCol="0" anchor="ctr"/>
          <a:lstStyle/>
          <a:p>
            <a:pPr marL="0" indent="0" algn="ctr">
              <a:buNone/>
            </a:pPr>
            <a:r>
              <a:rPr lang="en-US" sz="2500" b="1" dirty="0">
                <a:solidFill>
                  <a:srgbClr val="1E293B"/>
                </a:solidFill>
                <a:latin typeface="Georgia" pitchFamily="34" charset="0"/>
                <a:ea typeface="Georgia" pitchFamily="34" charset="-122"/>
                <a:cs typeface="Georgia" pitchFamily="34" charset="-120"/>
              </a:rPr>
              <a:t>Best Model Deep Dive: LightGBM</a:t>
            </a:r>
            <a:endParaRPr lang="en-US" sz="2500" dirty="0"/>
          </a:p>
        </p:txBody>
      </p:sp>
      <p:sp>
        <p:nvSpPr>
          <p:cNvPr id="4" name="Text 2"/>
          <p:cNvSpPr/>
          <p:nvPr/>
        </p:nvSpPr>
        <p:spPr>
          <a:xfrm>
            <a:off x="548640" y="713232"/>
            <a:ext cx="8046720" cy="347472"/>
          </a:xfrm>
          <a:prstGeom prst="rect">
            <a:avLst/>
          </a:prstGeom>
          <a:noFill/>
          <a:ln/>
        </p:spPr>
        <p:txBody>
          <a:bodyPr wrap="square" lIns="0" tIns="0" rIns="0" bIns="0" rtlCol="0" anchor="ctr"/>
          <a:lstStyle/>
          <a:p>
            <a:pPr marL="0" indent="0" algn="just">
              <a:buNone/>
            </a:pPr>
            <a:r>
              <a:rPr lang="en-US" sz="1000" dirty="0">
                <a:solidFill>
                  <a:srgbClr val="64748B"/>
                </a:solidFill>
                <a:latin typeface="Times New Roman" panose="02020603050405020304" pitchFamily="18" charset="0"/>
                <a:ea typeface="Calibri" pitchFamily="34" charset="-122"/>
                <a:cs typeface="Times New Roman" panose="02020603050405020304" pitchFamily="18" charset="0"/>
              </a:rPr>
              <a:t>LightGBM is a gradient boosting framework designed for efficient tree-based learning. In this notebook, it achieves the strongest R² and RMSE results, making it the selected model for future smartphone price prediction.</a:t>
            </a:r>
            <a:endParaRPr lang="en-US" sz="1000" dirty="0">
              <a:latin typeface="Times New Roman" panose="02020603050405020304" pitchFamily="18" charset="0"/>
              <a:cs typeface="Times New Roman" panose="02020603050405020304" pitchFamily="18" charset="0"/>
            </a:endParaRPr>
          </a:p>
        </p:txBody>
      </p:sp>
      <p:sp>
        <p:nvSpPr>
          <p:cNvPr id="5" name="Shape 3"/>
          <p:cNvSpPr/>
          <p:nvPr/>
        </p:nvSpPr>
        <p:spPr>
          <a:xfrm>
            <a:off x="365760" y="1097280"/>
            <a:ext cx="19659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365760" y="1097280"/>
            <a:ext cx="1965960" cy="45720"/>
          </a:xfrm>
          <a:prstGeom prst="rect">
            <a:avLst/>
          </a:prstGeom>
          <a:solidFill>
            <a:srgbClr val="0891B2"/>
          </a:solidFill>
          <a:ln/>
        </p:spPr>
        <p:txBody>
          <a:bodyPr/>
          <a:lstStyle/>
          <a:p>
            <a:endParaRPr lang="en-IN"/>
          </a:p>
        </p:txBody>
      </p:sp>
      <p:sp>
        <p:nvSpPr>
          <p:cNvPr id="7" name="Text 5"/>
          <p:cNvSpPr/>
          <p:nvPr/>
        </p:nvSpPr>
        <p:spPr>
          <a:xfrm>
            <a:off x="365760" y="1188720"/>
            <a:ext cx="1965960" cy="502920"/>
          </a:xfrm>
          <a:prstGeom prst="rect">
            <a:avLst/>
          </a:prstGeom>
          <a:noFill/>
          <a:ln/>
        </p:spPr>
        <p:txBody>
          <a:bodyPr wrap="square" lIns="0" tIns="0" rIns="0" bIns="0" rtlCol="0" anchor="ctr"/>
          <a:lstStyle/>
          <a:p>
            <a:pPr marL="0" indent="0" algn="ctr">
              <a:buNone/>
            </a:pPr>
            <a:r>
              <a:rPr lang="en-US" sz="2200" b="1" dirty="0">
                <a:solidFill>
                  <a:srgbClr val="1E293B"/>
                </a:solidFill>
                <a:latin typeface="Georgia" pitchFamily="34" charset="0"/>
                <a:ea typeface="Georgia" pitchFamily="34" charset="-122"/>
                <a:cs typeface="Georgia" pitchFamily="34" charset="-120"/>
              </a:rPr>
              <a:t>0.5641</a:t>
            </a:r>
            <a:endParaRPr lang="en-US" sz="2200" dirty="0"/>
          </a:p>
        </p:txBody>
      </p:sp>
      <p:sp>
        <p:nvSpPr>
          <p:cNvPr id="8" name="Text 6"/>
          <p:cNvSpPr/>
          <p:nvPr/>
        </p:nvSpPr>
        <p:spPr>
          <a:xfrm>
            <a:off x="365760" y="1691640"/>
            <a:ext cx="1965960" cy="228600"/>
          </a:xfrm>
          <a:prstGeom prst="rect">
            <a:avLst/>
          </a:prstGeom>
          <a:noFill/>
          <a:ln/>
        </p:spPr>
        <p:txBody>
          <a:bodyPr wrap="square" lIns="0" tIns="0" rIns="0" bIns="0" rtlCol="0" anchor="ctr"/>
          <a:lstStyle/>
          <a:p>
            <a:pPr marL="0" indent="0" algn="ctr">
              <a:buNone/>
            </a:pPr>
            <a:r>
              <a:rPr lang="en-US" sz="1200" b="1" dirty="0">
                <a:solidFill>
                  <a:srgbClr val="1E293B"/>
                </a:solidFill>
                <a:latin typeface="Times New Roman" panose="02020603050405020304" pitchFamily="18" charset="0"/>
                <a:ea typeface="Calibri" pitchFamily="34" charset="-122"/>
                <a:cs typeface="Times New Roman" panose="02020603050405020304" pitchFamily="18" charset="0"/>
              </a:rPr>
              <a:t>R² Score</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365760" y="1920240"/>
            <a:ext cx="196596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Times New Roman" panose="02020603050405020304" pitchFamily="18" charset="0"/>
                <a:ea typeface="Calibri" pitchFamily="34" charset="-122"/>
                <a:cs typeface="Times New Roman" panose="02020603050405020304" pitchFamily="18" charset="0"/>
              </a:rPr>
              <a:t>56.4% of test-set price variance explained</a:t>
            </a:r>
            <a:endParaRPr lang="en-US" sz="1000" dirty="0">
              <a:latin typeface="Times New Roman" panose="02020603050405020304" pitchFamily="18" charset="0"/>
              <a:cs typeface="Times New Roman" panose="02020603050405020304" pitchFamily="18" charset="0"/>
            </a:endParaRPr>
          </a:p>
        </p:txBody>
      </p:sp>
      <p:sp>
        <p:nvSpPr>
          <p:cNvPr id="10" name="Shape 8"/>
          <p:cNvSpPr/>
          <p:nvPr/>
        </p:nvSpPr>
        <p:spPr>
          <a:xfrm>
            <a:off x="2560320" y="1097280"/>
            <a:ext cx="19659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2560320" y="1097280"/>
            <a:ext cx="1965960" cy="45720"/>
          </a:xfrm>
          <a:prstGeom prst="rect">
            <a:avLst/>
          </a:prstGeom>
          <a:solidFill>
            <a:srgbClr val="10B981"/>
          </a:solidFill>
          <a:ln/>
        </p:spPr>
        <p:txBody>
          <a:bodyPr/>
          <a:lstStyle/>
          <a:p>
            <a:endParaRPr lang="en-IN"/>
          </a:p>
        </p:txBody>
      </p:sp>
      <p:sp>
        <p:nvSpPr>
          <p:cNvPr id="12" name="Text 10"/>
          <p:cNvSpPr/>
          <p:nvPr/>
        </p:nvSpPr>
        <p:spPr>
          <a:xfrm>
            <a:off x="2560320" y="1188720"/>
            <a:ext cx="1965960" cy="502920"/>
          </a:xfrm>
          <a:prstGeom prst="rect">
            <a:avLst/>
          </a:prstGeom>
          <a:noFill/>
          <a:ln/>
        </p:spPr>
        <p:txBody>
          <a:bodyPr wrap="square" lIns="0" tIns="0" rIns="0" bIns="0" rtlCol="0" anchor="ctr"/>
          <a:lstStyle/>
          <a:p>
            <a:pPr marL="0" indent="0" algn="ctr">
              <a:buNone/>
            </a:pPr>
            <a:r>
              <a:rPr lang="en-US" sz="2200" b="1" dirty="0">
                <a:solidFill>
                  <a:srgbClr val="1E293B"/>
                </a:solidFill>
                <a:latin typeface="Georgia" pitchFamily="34" charset="0"/>
                <a:ea typeface="Georgia" pitchFamily="34" charset="-122"/>
                <a:cs typeface="Georgia" pitchFamily="34" charset="-120"/>
              </a:rPr>
              <a:t>₹6,779</a:t>
            </a:r>
            <a:endParaRPr lang="en-US" sz="2200" dirty="0"/>
          </a:p>
        </p:txBody>
      </p:sp>
      <p:sp>
        <p:nvSpPr>
          <p:cNvPr id="13" name="Text 11"/>
          <p:cNvSpPr/>
          <p:nvPr/>
        </p:nvSpPr>
        <p:spPr>
          <a:xfrm>
            <a:off x="2560320" y="1691640"/>
            <a:ext cx="1965960" cy="228600"/>
          </a:xfrm>
          <a:prstGeom prst="rect">
            <a:avLst/>
          </a:prstGeom>
          <a:noFill/>
          <a:ln/>
        </p:spPr>
        <p:txBody>
          <a:bodyPr wrap="square" lIns="0" tIns="0" rIns="0" bIns="0" rtlCol="0" anchor="ctr"/>
          <a:lstStyle/>
          <a:p>
            <a:pPr marL="0" indent="0" algn="ctr">
              <a:buNone/>
            </a:pPr>
            <a:r>
              <a:rPr lang="en-US" sz="1100" b="1" dirty="0">
                <a:solidFill>
                  <a:srgbClr val="1E293B"/>
                </a:solidFill>
                <a:latin typeface="Times New Roman" panose="02020603050405020304" pitchFamily="18" charset="0"/>
                <a:ea typeface="Calibri" pitchFamily="34" charset="-122"/>
                <a:cs typeface="Times New Roman" panose="02020603050405020304" pitchFamily="18" charset="0"/>
              </a:rPr>
              <a:t>RMSE</a:t>
            </a:r>
            <a:endParaRPr lang="en-US" sz="1100" dirty="0">
              <a:latin typeface="Times New Roman" panose="02020603050405020304" pitchFamily="18" charset="0"/>
              <a:cs typeface="Times New Roman" panose="02020603050405020304" pitchFamily="18" charset="0"/>
            </a:endParaRPr>
          </a:p>
        </p:txBody>
      </p:sp>
      <p:sp>
        <p:nvSpPr>
          <p:cNvPr id="14" name="Text 12"/>
          <p:cNvSpPr/>
          <p:nvPr/>
        </p:nvSpPr>
        <p:spPr>
          <a:xfrm>
            <a:off x="2560320" y="1920240"/>
            <a:ext cx="196596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Times New Roman" panose="02020603050405020304" pitchFamily="18" charset="0"/>
                <a:ea typeface="Calibri" pitchFamily="34" charset="-122"/>
                <a:cs typeface="Times New Roman" panose="02020603050405020304" pitchFamily="18" charset="0"/>
              </a:rPr>
              <a:t>Average prediction error across the price spectrum</a:t>
            </a: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4754880" y="1097280"/>
            <a:ext cx="19659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4754880" y="1097280"/>
            <a:ext cx="1965960" cy="45720"/>
          </a:xfrm>
          <a:prstGeom prst="rect">
            <a:avLst/>
          </a:prstGeom>
          <a:solidFill>
            <a:srgbClr val="1E2761"/>
          </a:solidFill>
          <a:ln/>
        </p:spPr>
        <p:txBody>
          <a:bodyPr/>
          <a:lstStyle/>
          <a:p>
            <a:endParaRPr lang="en-IN"/>
          </a:p>
        </p:txBody>
      </p:sp>
      <p:sp>
        <p:nvSpPr>
          <p:cNvPr id="17" name="Text 15"/>
          <p:cNvSpPr/>
          <p:nvPr/>
        </p:nvSpPr>
        <p:spPr>
          <a:xfrm>
            <a:off x="4754880" y="1188720"/>
            <a:ext cx="1965960" cy="502920"/>
          </a:xfrm>
          <a:prstGeom prst="rect">
            <a:avLst/>
          </a:prstGeom>
          <a:noFill/>
          <a:ln/>
        </p:spPr>
        <p:txBody>
          <a:bodyPr wrap="square" lIns="0" tIns="0" rIns="0" bIns="0" rtlCol="0" anchor="ctr"/>
          <a:lstStyle/>
          <a:p>
            <a:pPr marL="0" indent="0" algn="ctr">
              <a:buNone/>
            </a:pPr>
            <a:r>
              <a:rPr lang="en-US" sz="2200" b="1" dirty="0">
                <a:solidFill>
                  <a:srgbClr val="1E293B"/>
                </a:solidFill>
                <a:latin typeface="Georgia" pitchFamily="34" charset="0"/>
                <a:ea typeface="Georgia" pitchFamily="34" charset="-122"/>
                <a:cs typeface="Georgia" pitchFamily="34" charset="-120"/>
              </a:rPr>
              <a:t>₹2,646</a:t>
            </a:r>
            <a:endParaRPr lang="en-US" sz="2200" dirty="0"/>
          </a:p>
        </p:txBody>
      </p:sp>
      <p:sp>
        <p:nvSpPr>
          <p:cNvPr id="18" name="Text 16"/>
          <p:cNvSpPr/>
          <p:nvPr/>
        </p:nvSpPr>
        <p:spPr>
          <a:xfrm>
            <a:off x="4754880" y="1691640"/>
            <a:ext cx="1965960" cy="228600"/>
          </a:xfrm>
          <a:prstGeom prst="rect">
            <a:avLst/>
          </a:prstGeom>
          <a:noFill/>
          <a:ln/>
        </p:spPr>
        <p:txBody>
          <a:bodyPr wrap="square" lIns="0" tIns="0" rIns="0" bIns="0" rtlCol="0" anchor="ctr"/>
          <a:lstStyle/>
          <a:p>
            <a:pPr marL="0" indent="0" algn="ctr">
              <a:buNone/>
            </a:pPr>
            <a:r>
              <a:rPr lang="en-US" sz="1200" b="1" dirty="0">
                <a:solidFill>
                  <a:srgbClr val="1E293B"/>
                </a:solidFill>
                <a:latin typeface="Times New Roman" panose="02020603050405020304" pitchFamily="18" charset="0"/>
                <a:ea typeface="Calibri" pitchFamily="34" charset="-122"/>
                <a:cs typeface="Times New Roman" panose="02020603050405020304" pitchFamily="18" charset="0"/>
              </a:rPr>
              <a:t>MAE</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4754880" y="1920240"/>
            <a:ext cx="196596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Times New Roman" panose="02020603050405020304" pitchFamily="18" charset="0"/>
                <a:ea typeface="Calibri" pitchFamily="34" charset="-122"/>
                <a:cs typeface="Times New Roman" panose="02020603050405020304" pitchFamily="18" charset="0"/>
              </a:rPr>
              <a:t>Mean absolute prediction error in rupees</a:t>
            </a:r>
            <a:endParaRPr lang="en-US" sz="1000" dirty="0">
              <a:latin typeface="Times New Roman" panose="02020603050405020304" pitchFamily="18" charset="0"/>
              <a:cs typeface="Times New Roman" panose="02020603050405020304" pitchFamily="18" charset="0"/>
            </a:endParaRPr>
          </a:p>
        </p:txBody>
      </p:sp>
      <p:sp>
        <p:nvSpPr>
          <p:cNvPr id="20" name="Shape 18"/>
          <p:cNvSpPr/>
          <p:nvPr/>
        </p:nvSpPr>
        <p:spPr>
          <a:xfrm>
            <a:off x="6949440" y="1097280"/>
            <a:ext cx="1965960" cy="13716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6949440" y="1097280"/>
            <a:ext cx="1965960" cy="45720"/>
          </a:xfrm>
          <a:prstGeom prst="rect">
            <a:avLst/>
          </a:prstGeom>
          <a:solidFill>
            <a:srgbClr val="F59E0B"/>
          </a:solidFill>
          <a:ln/>
        </p:spPr>
        <p:txBody>
          <a:bodyPr/>
          <a:lstStyle/>
          <a:p>
            <a:endParaRPr lang="en-IN"/>
          </a:p>
        </p:txBody>
      </p:sp>
      <p:sp>
        <p:nvSpPr>
          <p:cNvPr id="22" name="Text 20"/>
          <p:cNvSpPr/>
          <p:nvPr/>
        </p:nvSpPr>
        <p:spPr>
          <a:xfrm>
            <a:off x="6949440" y="1188720"/>
            <a:ext cx="1965960" cy="502920"/>
          </a:xfrm>
          <a:prstGeom prst="rect">
            <a:avLst/>
          </a:prstGeom>
          <a:noFill/>
          <a:ln/>
        </p:spPr>
        <p:txBody>
          <a:bodyPr wrap="square" lIns="0" tIns="0" rIns="0" bIns="0" rtlCol="0" anchor="ctr"/>
          <a:lstStyle/>
          <a:p>
            <a:pPr marL="0" indent="0" algn="ctr">
              <a:buNone/>
            </a:pPr>
            <a:r>
              <a:rPr lang="en-US" sz="2200" b="1" dirty="0">
                <a:solidFill>
                  <a:srgbClr val="1E293B"/>
                </a:solidFill>
                <a:latin typeface="Georgia" pitchFamily="34" charset="0"/>
                <a:ea typeface="Georgia" pitchFamily="34" charset="-122"/>
                <a:cs typeface="Georgia" pitchFamily="34" charset="-120"/>
              </a:rPr>
              <a:t>16.16%</a:t>
            </a:r>
            <a:endParaRPr lang="en-US" sz="2200" dirty="0"/>
          </a:p>
        </p:txBody>
      </p:sp>
      <p:sp>
        <p:nvSpPr>
          <p:cNvPr id="23" name="Text 21"/>
          <p:cNvSpPr/>
          <p:nvPr/>
        </p:nvSpPr>
        <p:spPr>
          <a:xfrm>
            <a:off x="6949440" y="1691640"/>
            <a:ext cx="1965960" cy="228600"/>
          </a:xfrm>
          <a:prstGeom prst="rect">
            <a:avLst/>
          </a:prstGeom>
          <a:noFill/>
          <a:ln/>
        </p:spPr>
        <p:txBody>
          <a:bodyPr wrap="square" lIns="0" tIns="0" rIns="0" bIns="0" rtlCol="0" anchor="ctr"/>
          <a:lstStyle/>
          <a:p>
            <a:pPr marL="0" indent="0" algn="ctr">
              <a:buNone/>
            </a:pPr>
            <a:r>
              <a:rPr lang="en-US" sz="1100" b="1" dirty="0">
                <a:solidFill>
                  <a:srgbClr val="1E293B"/>
                </a:solidFill>
                <a:latin typeface="Times New Roman" panose="02020603050405020304" pitchFamily="18" charset="0"/>
                <a:ea typeface="Calibri" pitchFamily="34" charset="-122"/>
                <a:cs typeface="Times New Roman" panose="02020603050405020304" pitchFamily="18" charset="0"/>
              </a:rPr>
              <a:t>MAPE</a:t>
            </a:r>
            <a:endParaRPr lang="en-US" sz="1100" dirty="0">
              <a:latin typeface="Times New Roman" panose="02020603050405020304" pitchFamily="18" charset="0"/>
              <a:cs typeface="Times New Roman" panose="02020603050405020304" pitchFamily="18" charset="0"/>
            </a:endParaRPr>
          </a:p>
        </p:txBody>
      </p:sp>
      <p:sp>
        <p:nvSpPr>
          <p:cNvPr id="24" name="Text 22"/>
          <p:cNvSpPr/>
          <p:nvPr/>
        </p:nvSpPr>
        <p:spPr>
          <a:xfrm>
            <a:off x="6949440" y="1920240"/>
            <a:ext cx="196596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Times New Roman" panose="02020603050405020304" pitchFamily="18" charset="0"/>
                <a:ea typeface="Calibri" pitchFamily="34" charset="-122"/>
                <a:cs typeface="Times New Roman" panose="02020603050405020304" pitchFamily="18" charset="0"/>
              </a:rPr>
              <a:t>Average absolute percentage deviation from actual price</a:t>
            </a:r>
            <a:endParaRPr lang="en-US" sz="1000" dirty="0">
              <a:latin typeface="Times New Roman" panose="02020603050405020304" pitchFamily="18" charset="0"/>
              <a:cs typeface="Times New Roman" panose="02020603050405020304" pitchFamily="18" charset="0"/>
            </a:endParaRPr>
          </a:p>
        </p:txBody>
      </p:sp>
      <p:sp>
        <p:nvSpPr>
          <p:cNvPr id="25" name="Shape 23"/>
          <p:cNvSpPr/>
          <p:nvPr/>
        </p:nvSpPr>
        <p:spPr>
          <a:xfrm>
            <a:off x="457200" y="2624328"/>
            <a:ext cx="3931920" cy="22631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457200" y="2624329"/>
            <a:ext cx="45719" cy="2290570"/>
          </a:xfrm>
          <a:prstGeom prst="rect">
            <a:avLst/>
          </a:prstGeom>
          <a:solidFill>
            <a:srgbClr val="0891B2"/>
          </a:solidFill>
          <a:ln/>
        </p:spPr>
        <p:txBody>
          <a:bodyPr/>
          <a:lstStyle/>
          <a:p>
            <a:endParaRPr lang="en-IN"/>
          </a:p>
        </p:txBody>
      </p:sp>
      <p:sp>
        <p:nvSpPr>
          <p:cNvPr id="27" name="Text 25"/>
          <p:cNvSpPr/>
          <p:nvPr/>
        </p:nvSpPr>
        <p:spPr>
          <a:xfrm>
            <a:off x="685800" y="2624328"/>
            <a:ext cx="3474720" cy="320040"/>
          </a:xfrm>
          <a:prstGeom prst="rect">
            <a:avLst/>
          </a:prstGeom>
          <a:noFill/>
          <a:ln/>
        </p:spPr>
        <p:txBody>
          <a:bodyPr wrap="square" lIns="0" tIns="0" rIns="0" bIns="0" rtlCol="0" anchor="ctr"/>
          <a:lstStyle/>
          <a:p>
            <a:pPr marL="0" indent="0" algn="ctr">
              <a:buNone/>
            </a:pPr>
            <a:r>
              <a:rPr lang="en-US" sz="1200" b="1" dirty="0">
                <a:solidFill>
                  <a:srgbClr val="1E293B"/>
                </a:solidFill>
                <a:latin typeface="Times New Roman" panose="02020603050405020304" pitchFamily="18" charset="0"/>
                <a:ea typeface="Calibri" pitchFamily="34" charset="-122"/>
                <a:cs typeface="Times New Roman" panose="02020603050405020304" pitchFamily="18" charset="0"/>
              </a:rPr>
              <a:t>Why LightGBM Leads</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502919" y="2880360"/>
            <a:ext cx="3886201" cy="2034538"/>
          </a:xfrm>
          <a:prstGeom prst="rect">
            <a:avLst/>
          </a:prstGeom>
          <a:noFill/>
          <a:ln/>
        </p:spPr>
        <p:txBody>
          <a:bodyPr wrap="square" lIns="0" tIns="0" rIns="0" bIns="0" rtlCol="0" anchor="ctr"/>
          <a:lstStyle/>
          <a:p>
            <a:pPr marL="342900" indent="-342900" algn="just">
              <a:spcAft>
                <a:spcPts val="500"/>
              </a:spcAft>
              <a:buSzPct val="100000"/>
              <a:buChar char="•"/>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The model achieved the highest R² value among all six tested models, with a score of 0.5641, compared to 0.5581 for Random Forest. </a:t>
            </a:r>
          </a:p>
          <a:p>
            <a:pPr marL="342900" indent="-342900" algn="just">
              <a:spcAft>
                <a:spcPts val="500"/>
              </a:spcAft>
              <a:buSzPct val="100000"/>
              <a:buChar char="•"/>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It also had the lowest RMSE at ₹6,779, indicating the best overall fit in terms of squared-error penalty.</a:t>
            </a:r>
          </a:p>
          <a:p>
            <a:pPr marL="342900" indent="-342900" algn="just">
              <a:spcAft>
                <a:spcPts val="500"/>
              </a:spcAft>
              <a:buSzPct val="100000"/>
              <a:buChar char="•"/>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Gradient boosting effectively captures non-linear interactions among various features such as model type, processor, storage, RAM, battery, and camera.</a:t>
            </a:r>
          </a:p>
          <a:p>
            <a:pPr marL="342900" indent="-342900" algn="just">
              <a:spcAft>
                <a:spcPts val="500"/>
              </a:spcAft>
              <a:buSzPct val="100000"/>
              <a:buChar char="•"/>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Its efficient learning process manages engineered and encoded variables without a heavy burden of manual feature selection.</a:t>
            </a:r>
          </a:p>
          <a:p>
            <a:pPr marL="342900" indent="-342900" algn="just">
              <a:spcAft>
                <a:spcPts val="500"/>
              </a:spcAft>
              <a:buSzPct val="100000"/>
              <a:buChar char="•"/>
            </a:pPr>
            <a:r>
              <a:rPr lang="en-US" sz="900" dirty="0">
                <a:solidFill>
                  <a:srgbClr val="64748B"/>
                </a:solidFill>
                <a:latin typeface="Times New Roman" panose="02020603050405020304" pitchFamily="18" charset="0"/>
                <a:ea typeface="Calibri" pitchFamily="34" charset="-122"/>
                <a:cs typeface="Times New Roman" panose="02020603050405020304" pitchFamily="18" charset="0"/>
              </a:rPr>
              <a:t>The feature importance output enhances interpretability by ranking the most significant drivers of price.</a:t>
            </a:r>
            <a:endParaRPr lang="en-US" sz="900" dirty="0">
              <a:latin typeface="Times New Roman" panose="02020603050405020304" pitchFamily="18" charset="0"/>
              <a:cs typeface="Times New Roman" panose="02020603050405020304" pitchFamily="18" charset="0"/>
            </a:endParaRPr>
          </a:p>
        </p:txBody>
      </p:sp>
      <p:sp>
        <p:nvSpPr>
          <p:cNvPr id="29" name="Shape 27"/>
          <p:cNvSpPr/>
          <p:nvPr/>
        </p:nvSpPr>
        <p:spPr>
          <a:xfrm>
            <a:off x="4754880" y="2651760"/>
            <a:ext cx="3931920" cy="2263140"/>
          </a:xfrm>
          <a:prstGeom prst="rect">
            <a:avLst/>
          </a:prstGeom>
          <a:solidFill>
            <a:srgbClr val="1E2761"/>
          </a:solidFill>
          <a:ln/>
        </p:spPr>
        <p:txBody>
          <a:bodyPr/>
          <a:lstStyle/>
          <a:p>
            <a:endParaRPr lang="en-IN"/>
          </a:p>
        </p:txBody>
      </p:sp>
      <p:pic>
        <p:nvPicPr>
          <p:cNvPr id="30" name="Image 0" descr="preencoded.png"/>
          <p:cNvPicPr>
            <a:picLocks noChangeAspect="1"/>
          </p:cNvPicPr>
          <p:nvPr/>
        </p:nvPicPr>
        <p:blipFill>
          <a:blip r:embed="rId3"/>
          <a:stretch>
            <a:fillRect/>
          </a:stretch>
        </p:blipFill>
        <p:spPr>
          <a:xfrm>
            <a:off x="4983480" y="2761488"/>
            <a:ext cx="256032" cy="256032"/>
          </a:xfrm>
          <a:prstGeom prst="rect">
            <a:avLst/>
          </a:prstGeom>
        </p:spPr>
      </p:pic>
      <p:sp>
        <p:nvSpPr>
          <p:cNvPr id="31" name="Text 28"/>
          <p:cNvSpPr/>
          <p:nvPr/>
        </p:nvSpPr>
        <p:spPr>
          <a:xfrm>
            <a:off x="5349240" y="2743200"/>
            <a:ext cx="3108960" cy="292608"/>
          </a:xfrm>
          <a:prstGeom prst="rect">
            <a:avLst/>
          </a:prstGeom>
          <a:noFill/>
          <a:ln/>
        </p:spPr>
        <p:txBody>
          <a:bodyPr wrap="square" lIns="0" tIns="0" rIns="0" bIns="0" rtlCol="0" anchor="ctr"/>
          <a:lstStyle/>
          <a:p>
            <a:pPr marL="0" indent="0">
              <a:buNone/>
            </a:pPr>
            <a:r>
              <a:rPr lang="en-US" sz="1600" b="1" dirty="0">
                <a:solidFill>
                  <a:srgbClr val="0891B2"/>
                </a:solidFill>
                <a:latin typeface="Times New Roman" panose="02020603050405020304" pitchFamily="18" charset="0"/>
                <a:ea typeface="Calibri" pitchFamily="34" charset="-122"/>
                <a:cs typeface="Times New Roman" panose="02020603050405020304" pitchFamily="18" charset="0"/>
              </a:rPr>
              <a:t>Prediction Demo</a:t>
            </a:r>
            <a:endParaRPr lang="en-US" sz="1600" dirty="0">
              <a:latin typeface="Times New Roman" panose="02020603050405020304" pitchFamily="18" charset="0"/>
              <a:cs typeface="Times New Roman" panose="02020603050405020304" pitchFamily="18" charset="0"/>
            </a:endParaRPr>
          </a:p>
        </p:txBody>
      </p:sp>
      <p:sp>
        <p:nvSpPr>
          <p:cNvPr id="32" name="Text 29"/>
          <p:cNvSpPr/>
          <p:nvPr/>
        </p:nvSpPr>
        <p:spPr>
          <a:xfrm>
            <a:off x="4983480" y="3108960"/>
            <a:ext cx="3474720" cy="228600"/>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Future Smartphone Scenario</a:t>
            </a:r>
            <a:endParaRPr lang="en-US" sz="1400" dirty="0">
              <a:latin typeface="Times New Roman" panose="02020603050405020304" pitchFamily="18" charset="0"/>
              <a:cs typeface="Times New Roman" panose="02020603050405020304" pitchFamily="18" charset="0"/>
            </a:endParaRPr>
          </a:p>
        </p:txBody>
      </p:sp>
      <p:sp>
        <p:nvSpPr>
          <p:cNvPr id="33" name="Text 30"/>
          <p:cNvSpPr/>
          <p:nvPr/>
        </p:nvSpPr>
        <p:spPr>
          <a:xfrm>
            <a:off x="4983480" y="3383280"/>
            <a:ext cx="3474720" cy="731520"/>
          </a:xfrm>
          <a:prstGeom prst="rect">
            <a:avLst/>
          </a:prstGeom>
          <a:noFill/>
          <a:ln/>
        </p:spPr>
        <p:txBody>
          <a:bodyPr wrap="square" lIns="0" tIns="0" rIns="0" bIns="0" rtlCol="0" anchor="ctr"/>
          <a:lstStyle/>
          <a:p>
            <a:pPr marL="0" indent="0">
              <a:spcAft>
                <a:spcPts val="300"/>
              </a:spcAf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Storage: 256 GB  |  RAM: 12 GB</a:t>
            </a:r>
            <a:endParaRPr lang="en-US" sz="1000" dirty="0">
              <a:latin typeface="Times New Roman" panose="02020603050405020304" pitchFamily="18" charset="0"/>
              <a:cs typeface="Times New Roman" panose="02020603050405020304" pitchFamily="18" charset="0"/>
            </a:endParaRPr>
          </a:p>
          <a:p>
            <a:pPr marL="0" indent="0">
              <a:spcAft>
                <a:spcPts val="300"/>
              </a:spcAf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Battery: 6000 mAh  |  Rear: 108 MP  |  Front: 32 MP</a:t>
            </a:r>
            <a:endParaRPr lang="en-US" sz="1000" dirty="0">
              <a:latin typeface="Times New Roman" panose="02020603050405020304" pitchFamily="18" charset="0"/>
              <a:cs typeface="Times New Roman" panose="02020603050405020304" pitchFamily="18" charset="0"/>
            </a:endParaRPr>
          </a:p>
          <a:p>
            <a:pPr marL="0" indent="0">
              <a:spcAft>
                <a:spcPts val="300"/>
              </a:spcAf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Processor: Snapdragon 8 Gen 2</a:t>
            </a:r>
            <a:endParaRPr lang="en-US" sz="1000" dirty="0">
              <a:latin typeface="Times New Roman" panose="02020603050405020304" pitchFamily="18" charset="0"/>
              <a:cs typeface="Times New Roman" panose="02020603050405020304" pitchFamily="18" charset="0"/>
            </a:endParaRPr>
          </a:p>
          <a:p>
            <a:pPr marL="0" indent="0">
              <a:spcAft>
                <a:spcPts val="800"/>
              </a:spcAft>
              <a:buNone/>
            </a:pPr>
            <a:r>
              <a:rPr lang="en-US" sz="1000" dirty="0">
                <a:solidFill>
                  <a:srgbClr val="CADCFC"/>
                </a:solidFill>
                <a:latin typeface="Times New Roman" panose="02020603050405020304" pitchFamily="18" charset="0"/>
                <a:ea typeface="Calibri" pitchFamily="34" charset="-122"/>
                <a:cs typeface="Times New Roman" panose="02020603050405020304" pitchFamily="18" charset="0"/>
              </a:rPr>
              <a:t>Model Input: 18 features, 15 active</a:t>
            </a:r>
            <a:endParaRPr lang="en-US" sz="1000" dirty="0">
              <a:latin typeface="Times New Roman" panose="02020603050405020304" pitchFamily="18" charset="0"/>
              <a:cs typeface="Times New Roman" panose="02020603050405020304" pitchFamily="18" charset="0"/>
            </a:endParaRPr>
          </a:p>
        </p:txBody>
      </p:sp>
      <p:sp>
        <p:nvSpPr>
          <p:cNvPr id="34" name="Text 31"/>
          <p:cNvSpPr/>
          <p:nvPr/>
        </p:nvSpPr>
        <p:spPr>
          <a:xfrm>
            <a:off x="4983480" y="4160520"/>
            <a:ext cx="3474720" cy="269748"/>
          </a:xfrm>
          <a:prstGeom prst="rect">
            <a:avLst/>
          </a:prstGeom>
          <a:noFill/>
          <a:ln/>
        </p:spPr>
        <p:txBody>
          <a:bodyPr wrap="square" lIns="0" tIns="0" rIns="0" bIns="0" rtlCol="0" anchor="ctr"/>
          <a:lstStyle/>
          <a:p>
            <a:pPr marL="0" indent="0">
              <a:buNone/>
            </a:pPr>
            <a:r>
              <a:rPr lang="en-US" sz="1400" b="1" dirty="0">
                <a:solidFill>
                  <a:srgbClr val="0891B2"/>
                </a:solidFill>
                <a:latin typeface="Times New Roman" panose="02020603050405020304" pitchFamily="18" charset="0"/>
                <a:ea typeface="Georgia" pitchFamily="34" charset="-122"/>
                <a:cs typeface="Times New Roman" panose="02020603050405020304" pitchFamily="18" charset="0"/>
              </a:rPr>
              <a:t>Predicted Price: ₹31,210</a:t>
            </a:r>
            <a:endParaRPr lang="en-US" sz="1400" dirty="0">
              <a:latin typeface="Times New Roman" panose="02020603050405020304" pitchFamily="18" charset="0"/>
              <a:cs typeface="Times New Roman" panose="02020603050405020304" pitchFamily="18" charset="0"/>
            </a:endParaRPr>
          </a:p>
        </p:txBody>
      </p:sp>
      <p:sp>
        <p:nvSpPr>
          <p:cNvPr id="35" name="Text 32"/>
          <p:cNvSpPr/>
          <p:nvPr/>
        </p:nvSpPr>
        <p:spPr>
          <a:xfrm>
            <a:off x="4983480" y="4526280"/>
            <a:ext cx="3474720" cy="228600"/>
          </a:xfrm>
          <a:prstGeom prst="rect">
            <a:avLst/>
          </a:prstGeom>
          <a:noFill/>
          <a:ln/>
        </p:spPr>
        <p:txBody>
          <a:bodyPr wrap="square" lIns="0" tIns="0" rIns="0" bIns="0" rtlCol="0" anchor="ctr"/>
          <a:lstStyle/>
          <a:p>
            <a:pPr marL="0" indent="0" algn="just">
              <a:buNone/>
            </a:pPr>
            <a:r>
              <a:rPr lang="en-US" sz="900" dirty="0">
                <a:solidFill>
                  <a:srgbClr val="94A3B8"/>
                </a:solidFill>
                <a:latin typeface="Times New Roman" panose="02020603050405020304" pitchFamily="18" charset="0"/>
                <a:ea typeface="Calibri" pitchFamily="34" charset="-122"/>
                <a:cs typeface="Times New Roman" panose="02020603050405020304" pitchFamily="18" charset="0"/>
              </a:rPr>
              <a:t>This demo shows how the trained model can estimate market price for an unseen configuration using specification-level inputs, supporting automated pricing analysis for new product launches.</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8640" y="228600"/>
            <a:ext cx="7315200" cy="457200"/>
          </a:xfrm>
          <a:prstGeom prst="rect">
            <a:avLst/>
          </a:prstGeom>
          <a:noFill/>
          <a:ln/>
        </p:spPr>
        <p:txBody>
          <a:bodyPr wrap="square" lIns="0" tIns="0" rIns="0" bIns="0" rtlCol="0" anchor="ctr"/>
          <a:lstStyle/>
          <a:p>
            <a:pPr marL="0" indent="0" algn="ctr">
              <a:buNone/>
            </a:pPr>
            <a:r>
              <a:rPr lang="en-US" sz="2500" b="1" dirty="0">
                <a:solidFill>
                  <a:srgbClr val="FFFFFF"/>
                </a:solidFill>
                <a:latin typeface="Georgia" pitchFamily="34" charset="0"/>
                <a:ea typeface="Georgia" pitchFamily="34" charset="-122"/>
                <a:cs typeface="Georgia" pitchFamily="34" charset="-120"/>
              </a:rPr>
              <a:t>Feature Importance Analysis</a:t>
            </a:r>
            <a:endParaRPr lang="en-US" sz="2500" dirty="0"/>
          </a:p>
        </p:txBody>
      </p:sp>
      <p:sp>
        <p:nvSpPr>
          <p:cNvPr id="3" name="Shape 1"/>
          <p:cNvSpPr/>
          <p:nvPr/>
        </p:nvSpPr>
        <p:spPr>
          <a:xfrm>
            <a:off x="548640" y="713232"/>
            <a:ext cx="1828800" cy="0"/>
          </a:xfrm>
          <a:prstGeom prst="line">
            <a:avLst/>
          </a:prstGeom>
          <a:noFill/>
          <a:ln w="25400">
            <a:solidFill>
              <a:srgbClr val="0891B2"/>
            </a:solidFill>
            <a:prstDash val="solid"/>
          </a:ln>
        </p:spPr>
        <p:txBody>
          <a:bodyPr/>
          <a:lstStyle/>
          <a:p>
            <a:endParaRPr lang="en-IN"/>
          </a:p>
        </p:txBody>
      </p:sp>
      <p:sp>
        <p:nvSpPr>
          <p:cNvPr id="4" name="Text 2"/>
          <p:cNvSpPr/>
          <p:nvPr/>
        </p:nvSpPr>
        <p:spPr>
          <a:xfrm>
            <a:off x="182880" y="713232"/>
            <a:ext cx="8595360" cy="438912"/>
          </a:xfrm>
          <a:prstGeom prst="rect">
            <a:avLst/>
          </a:prstGeom>
          <a:noFill/>
          <a:ln/>
        </p:spPr>
        <p:txBody>
          <a:bodyPr wrap="square" lIns="0" tIns="0" rIns="0" bIns="0" rtlCol="0" anchor="ctr"/>
          <a:lstStyle/>
          <a:p>
            <a:pPr marL="0" indent="0" algn="just">
              <a:buNone/>
            </a:pPr>
            <a:r>
              <a:rPr lang="en-US" sz="1200" dirty="0" err="1">
                <a:solidFill>
                  <a:srgbClr val="CADCFC"/>
                </a:solidFill>
                <a:latin typeface="Times New Roman" panose="02020603050405020304" pitchFamily="18" charset="0"/>
                <a:ea typeface="Calibri" pitchFamily="34" charset="-122"/>
                <a:cs typeface="Times New Roman" panose="02020603050405020304" pitchFamily="18" charset="0"/>
              </a:rPr>
              <a:t>LightGBM</a:t>
            </a:r>
            <a:r>
              <a:rPr lang="en-US" sz="1200" dirty="0">
                <a:solidFill>
                  <a:srgbClr val="CADCFC"/>
                </a:solidFill>
                <a:latin typeface="Times New Roman" panose="02020603050405020304" pitchFamily="18" charset="0"/>
                <a:ea typeface="Calibri" pitchFamily="34" charset="-122"/>
                <a:cs typeface="Times New Roman" panose="02020603050405020304" pitchFamily="18" charset="0"/>
              </a:rPr>
              <a:t> feature importance scores quantify how strongly each engineered input contributes to price prediction. The notebook ranks model identity, processor, battery, colour, mobile height, RAM, memory and camera megapixels as the strongest contributors.</a:t>
            </a:r>
            <a:endParaRPr lang="en-US" sz="1200" dirty="0">
              <a:latin typeface="Times New Roman" panose="02020603050405020304" pitchFamily="18" charset="0"/>
              <a:cs typeface="Times New Roman" panose="02020603050405020304" pitchFamily="18" charset="0"/>
            </a:endParaRPr>
          </a:p>
        </p:txBody>
      </p:sp>
      <p:graphicFrame>
        <p:nvGraphicFramePr>
          <p:cNvPr id="5" name="Chart 0"/>
          <p:cNvGraphicFramePr/>
          <p:nvPr>
            <p:extLst>
              <p:ext uri="{D42A27DB-BD31-4B8C-83A1-F6EECF244321}">
                <p14:modId xmlns:p14="http://schemas.microsoft.com/office/powerpoint/2010/main" val="3370008161"/>
              </p:ext>
            </p:extLst>
          </p:nvPr>
        </p:nvGraphicFramePr>
        <p:xfrm>
          <a:off x="182880" y="1234439"/>
          <a:ext cx="5029200" cy="37871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18760" y="1234440"/>
            <a:ext cx="3550920" cy="3787140"/>
          </a:xfrm>
          <a:prstGeom prst="rect">
            <a:avLst/>
          </a:prstGeom>
          <a:solidFill>
            <a:srgbClr val="1E2761"/>
          </a:solidFill>
          <a:ln/>
        </p:spPr>
        <p:txBody>
          <a:bodyPr/>
          <a:lstStyle/>
          <a:p>
            <a:endParaRPr lang="en-IN"/>
          </a:p>
        </p:txBody>
      </p:sp>
      <p:sp>
        <p:nvSpPr>
          <p:cNvPr id="7" name="Text 4"/>
          <p:cNvSpPr/>
          <p:nvPr/>
        </p:nvSpPr>
        <p:spPr>
          <a:xfrm>
            <a:off x="5577840" y="1325880"/>
            <a:ext cx="3017520" cy="274320"/>
          </a:xfrm>
          <a:prstGeom prst="rect">
            <a:avLst/>
          </a:prstGeom>
          <a:noFill/>
          <a:ln/>
        </p:spPr>
        <p:txBody>
          <a:bodyPr wrap="square" lIns="0" tIns="0" rIns="0" bIns="0" rtlCol="0" anchor="ctr"/>
          <a:lstStyle/>
          <a:p>
            <a:pPr marL="0" indent="0" algn="ctr">
              <a:buNone/>
            </a:pPr>
            <a:r>
              <a:rPr lang="en-US" sz="1400" b="1" dirty="0">
                <a:solidFill>
                  <a:srgbClr val="0891B2"/>
                </a:solidFill>
                <a:latin typeface="Times New Roman" panose="02020603050405020304" pitchFamily="18" charset="0"/>
                <a:ea typeface="Calibri" pitchFamily="34" charset="-122"/>
                <a:cs typeface="Times New Roman" panose="02020603050405020304" pitchFamily="18" charset="0"/>
              </a:rPr>
              <a:t>Business Interpretation</a:t>
            </a:r>
            <a:endParaRPr lang="en-US" sz="1400" dirty="0">
              <a:latin typeface="Times New Roman" panose="02020603050405020304" pitchFamily="18" charset="0"/>
              <a:cs typeface="Times New Roman" panose="02020603050405020304" pitchFamily="18" charset="0"/>
            </a:endParaRPr>
          </a:p>
        </p:txBody>
      </p:sp>
      <p:sp>
        <p:nvSpPr>
          <p:cNvPr id="8" name="Text 5"/>
          <p:cNvSpPr/>
          <p:nvPr/>
        </p:nvSpPr>
        <p:spPr>
          <a:xfrm>
            <a:off x="5394960" y="1682496"/>
            <a:ext cx="3383280" cy="3339082"/>
          </a:xfrm>
          <a:prstGeom prst="rect">
            <a:avLst/>
          </a:prstGeom>
          <a:noFill/>
          <a:ln/>
        </p:spPr>
        <p:txBody>
          <a:bodyPr wrap="square" lIns="0" tIns="0" rIns="0" bIns="0" rtlCol="0" anchor="ctr"/>
          <a:lstStyle/>
          <a:p>
            <a:pPr marL="0" indent="0" algn="just">
              <a:spcAft>
                <a:spcPts val="300"/>
              </a:spcAft>
              <a:buNone/>
            </a:pPr>
            <a:r>
              <a:rPr lang="en-US" sz="950" b="1" dirty="0">
                <a:solidFill>
                  <a:srgbClr val="FFFFFF"/>
                </a:solidFill>
                <a:latin typeface="Times New Roman" panose="02020603050405020304" pitchFamily="18" charset="0"/>
                <a:ea typeface="Calibri" pitchFamily="34" charset="-122"/>
                <a:cs typeface="Times New Roman" panose="02020603050405020304" pitchFamily="18" charset="0"/>
              </a:rPr>
              <a:t>#1: Model Identity</a:t>
            </a:r>
            <a:endParaRPr lang="en-US" sz="950" dirty="0">
              <a:latin typeface="Times New Roman" panose="02020603050405020304" pitchFamily="18" charset="0"/>
              <a:cs typeface="Times New Roman" panose="02020603050405020304" pitchFamily="18" charset="0"/>
            </a:endParaRPr>
          </a:p>
          <a:p>
            <a:pPr marL="0" indent="0" algn="just">
              <a:spcAft>
                <a:spcPts val="800"/>
              </a:spcAft>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The Model feature receives the highest importance score (730), showing that product-line positioning and model-specific attributes strongly influence pricing beyond raw specifications alone.</a:t>
            </a:r>
            <a:endParaRPr lang="en-US" sz="950" dirty="0">
              <a:latin typeface="Times New Roman" panose="02020603050405020304" pitchFamily="18" charset="0"/>
              <a:cs typeface="Times New Roman" panose="02020603050405020304" pitchFamily="18" charset="0"/>
            </a:endParaRPr>
          </a:p>
          <a:p>
            <a:pPr marL="0" indent="0" algn="just">
              <a:spcAft>
                <a:spcPts val="300"/>
              </a:spcAft>
              <a:buNone/>
            </a:pPr>
            <a:r>
              <a:rPr lang="en-US" sz="950" b="1" dirty="0">
                <a:solidFill>
                  <a:srgbClr val="FFFFFF"/>
                </a:solidFill>
                <a:latin typeface="Times New Roman" panose="02020603050405020304" pitchFamily="18" charset="0"/>
                <a:ea typeface="Calibri" pitchFamily="34" charset="-122"/>
                <a:cs typeface="Times New Roman" panose="02020603050405020304" pitchFamily="18" charset="0"/>
              </a:rPr>
              <a:t>#2: Processor Technology</a:t>
            </a:r>
            <a:endParaRPr lang="en-US" sz="950" dirty="0">
              <a:latin typeface="Times New Roman" panose="02020603050405020304" pitchFamily="18" charset="0"/>
              <a:cs typeface="Times New Roman" panose="02020603050405020304" pitchFamily="18" charset="0"/>
            </a:endParaRPr>
          </a:p>
          <a:p>
            <a:pPr marL="0" indent="0" algn="just">
              <a:spcAft>
                <a:spcPts val="800"/>
              </a:spcAft>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Processor ranks second (530), confirming that chipset family and performance tier are central to market value and premium positioning.</a:t>
            </a:r>
            <a:endParaRPr lang="en-US" sz="950" dirty="0">
              <a:latin typeface="Times New Roman" panose="02020603050405020304" pitchFamily="18" charset="0"/>
              <a:cs typeface="Times New Roman" panose="02020603050405020304" pitchFamily="18" charset="0"/>
            </a:endParaRPr>
          </a:p>
          <a:p>
            <a:pPr marL="0" indent="0" algn="just">
              <a:spcAft>
                <a:spcPts val="300"/>
              </a:spcAft>
              <a:buNone/>
            </a:pPr>
            <a:r>
              <a:rPr lang="en-US" sz="950" b="1" dirty="0">
                <a:solidFill>
                  <a:srgbClr val="FFFFFF"/>
                </a:solidFill>
                <a:latin typeface="Times New Roman" panose="02020603050405020304" pitchFamily="18" charset="0"/>
                <a:ea typeface="Calibri" pitchFamily="34" charset="-122"/>
                <a:cs typeface="Times New Roman" panose="02020603050405020304" pitchFamily="18" charset="0"/>
              </a:rPr>
              <a:t>#3: Battery, Colour &amp; Form Factor</a:t>
            </a:r>
            <a:endParaRPr lang="en-US" sz="950" dirty="0">
              <a:latin typeface="Times New Roman" panose="02020603050405020304" pitchFamily="18" charset="0"/>
              <a:cs typeface="Times New Roman" panose="02020603050405020304" pitchFamily="18" charset="0"/>
            </a:endParaRPr>
          </a:p>
          <a:p>
            <a:pPr marL="0" indent="0" algn="just">
              <a:spcAft>
                <a:spcPts val="800"/>
              </a:spcAft>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Battery (265), Colour (259), and Mobile Height (244) provide meaningful segmentation signals linked to product design, configuration, and market category.</a:t>
            </a:r>
            <a:endParaRPr lang="en-US" sz="950" dirty="0">
              <a:latin typeface="Times New Roman" panose="02020603050405020304" pitchFamily="18" charset="0"/>
              <a:cs typeface="Times New Roman" panose="02020603050405020304" pitchFamily="18" charset="0"/>
            </a:endParaRPr>
          </a:p>
          <a:p>
            <a:pPr marL="0" indent="0" algn="just">
              <a:spcAft>
                <a:spcPts val="300"/>
              </a:spcAft>
              <a:buNone/>
            </a:pPr>
            <a:r>
              <a:rPr lang="en-US" sz="950" b="1" dirty="0">
                <a:solidFill>
                  <a:srgbClr val="FFFFFF"/>
                </a:solidFill>
                <a:latin typeface="Times New Roman" panose="02020603050405020304" pitchFamily="18" charset="0"/>
                <a:ea typeface="Calibri" pitchFamily="34" charset="-122"/>
                <a:cs typeface="Times New Roman" panose="02020603050405020304" pitchFamily="18" charset="0"/>
              </a:rPr>
              <a:t>#4: RAM, Memory &amp; Camera Specs</a:t>
            </a:r>
            <a:endParaRPr lang="en-US" sz="950" dirty="0">
              <a:latin typeface="Times New Roman" panose="02020603050405020304" pitchFamily="18" charset="0"/>
              <a:cs typeface="Times New Roman" panose="02020603050405020304" pitchFamily="18" charset="0"/>
            </a:endParaRPr>
          </a:p>
          <a:p>
            <a:pPr marL="0" indent="0" algn="just">
              <a:spcAft>
                <a:spcPts val="800"/>
              </a:spcAft>
              <a:buNone/>
            </a:pPr>
            <a:r>
              <a:rPr lang="en-US" sz="950" dirty="0">
                <a:solidFill>
                  <a:srgbClr val="CADCFC"/>
                </a:solidFill>
                <a:latin typeface="Times New Roman" panose="02020603050405020304" pitchFamily="18" charset="0"/>
                <a:ea typeface="Calibri" pitchFamily="34" charset="-122"/>
                <a:cs typeface="Times New Roman" panose="02020603050405020304" pitchFamily="18" charset="0"/>
              </a:rPr>
              <a:t>RAM, Memory, Front Camera MP and Rear Camera MP remain important hardware drivers, supporting the insight that pricing reflects a combined specification profile.</a:t>
            </a:r>
            <a:endParaRPr lang="en-US" sz="950" dirty="0">
              <a:latin typeface="Times New Roman" panose="02020603050405020304" pitchFamily="18" charset="0"/>
              <a:cs typeface="Times New Roman" panose="02020603050405020304" pitchFamily="18" charset="0"/>
            </a:endParaRPr>
          </a:p>
          <a:p>
            <a:pPr marL="0" indent="0" algn="just">
              <a:buNone/>
            </a:pPr>
            <a:r>
              <a:rPr lang="en-US" sz="950" b="1" dirty="0">
                <a:solidFill>
                  <a:srgbClr val="CADCFC"/>
                </a:solidFill>
                <a:latin typeface="Times New Roman" panose="02020603050405020304" pitchFamily="18" charset="0"/>
                <a:ea typeface="Calibri" pitchFamily="34" charset="-122"/>
                <a:cs typeface="Times New Roman" panose="02020603050405020304" pitchFamily="18" charset="0"/>
              </a:rPr>
              <a:t>Combined insight: pricing is not driven by one isolated feature. The best model weighs brand/model positioning, processor class, and hardware configuration together to estimate market value</a:t>
            </a:r>
            <a:r>
              <a:rPr lang="en-US" sz="900" b="1" dirty="0">
                <a:solidFill>
                  <a:srgbClr val="CADCFC"/>
                </a:solidFill>
                <a:latin typeface="Times New Roman" panose="02020603050405020304" pitchFamily="18" charset="0"/>
                <a:ea typeface="Calibri" pitchFamily="34" charset="-122"/>
                <a:cs typeface="Times New Roman" panose="02020603050405020304" pitchFamily="18" charset="0"/>
              </a:rPr>
              <a:t>.</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2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891B2"/>
          </a:solidFill>
          <a:ln/>
        </p:spPr>
        <p:txBody>
          <a:bodyPr/>
          <a:lstStyle/>
          <a:p>
            <a:endParaRPr lang="en-IN"/>
          </a:p>
        </p:txBody>
      </p:sp>
      <p:sp>
        <p:nvSpPr>
          <p:cNvPr id="3" name="Text 1"/>
          <p:cNvSpPr/>
          <p:nvPr/>
        </p:nvSpPr>
        <p:spPr>
          <a:xfrm>
            <a:off x="548640" y="228600"/>
            <a:ext cx="7772400" cy="457200"/>
          </a:xfrm>
          <a:prstGeom prst="rect">
            <a:avLst/>
          </a:prstGeom>
          <a:noFill/>
          <a:ln/>
        </p:spPr>
        <p:txBody>
          <a:bodyPr wrap="square" lIns="0" tIns="0" rIns="0" bIns="0" rtlCol="0" anchor="ctr"/>
          <a:lstStyle/>
          <a:p>
            <a:pPr marL="0" indent="0" algn="ctr">
              <a:buNone/>
            </a:pPr>
            <a:r>
              <a:rPr lang="en-US" sz="2600" b="1" dirty="0">
                <a:solidFill>
                  <a:srgbClr val="1E293B"/>
                </a:solidFill>
                <a:latin typeface="Times New Roman" panose="02020603050405020304" pitchFamily="18" charset="0"/>
                <a:ea typeface="Georgia" pitchFamily="34" charset="-122"/>
                <a:cs typeface="Times New Roman" panose="02020603050405020304" pitchFamily="18" charset="0"/>
              </a:rPr>
              <a:t>Key Findings &amp; Strategic Recommendations</a:t>
            </a:r>
            <a:endParaRPr lang="en-US" sz="2600" dirty="0">
              <a:latin typeface="Times New Roman" panose="02020603050405020304" pitchFamily="18" charset="0"/>
              <a:cs typeface="Times New Roman" panose="02020603050405020304" pitchFamily="18" charset="0"/>
            </a:endParaRPr>
          </a:p>
        </p:txBody>
      </p:sp>
      <p:sp>
        <p:nvSpPr>
          <p:cNvPr id="4" name="Text 2"/>
          <p:cNvSpPr/>
          <p:nvPr/>
        </p:nvSpPr>
        <p:spPr>
          <a:xfrm>
            <a:off x="548640" y="713232"/>
            <a:ext cx="8046720" cy="320040"/>
          </a:xfrm>
          <a:prstGeom prst="rect">
            <a:avLst/>
          </a:prstGeom>
          <a:noFill/>
          <a:ln/>
        </p:spPr>
        <p:txBody>
          <a:bodyPr wrap="square" lIns="0" tIns="0" rIns="0" bIns="0"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This section consolidates the most significant findings from the statistical analysis, exploratory data analysis, and machine learning modeling, paired with actionable strategic recommendations for manufacturers, retailers, and product teams.</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097280"/>
            <a:ext cx="400050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6" name="Shape 4"/>
          <p:cNvSpPr/>
          <p:nvPr/>
        </p:nvSpPr>
        <p:spPr>
          <a:xfrm>
            <a:off x="457200" y="1097280"/>
            <a:ext cx="4000500" cy="54864"/>
          </a:xfrm>
          <a:prstGeom prst="rect">
            <a:avLst/>
          </a:prstGeom>
          <a:solidFill>
            <a:srgbClr val="0891B2"/>
          </a:solidFill>
          <a:ln/>
        </p:spPr>
        <p:txBody>
          <a:bodyPr/>
          <a:lstStyle/>
          <a:p>
            <a:endParaRPr lang="en-IN"/>
          </a:p>
        </p:txBody>
      </p:sp>
      <p:sp>
        <p:nvSpPr>
          <p:cNvPr id="7" name="Text 5"/>
          <p:cNvSpPr/>
          <p:nvPr/>
        </p:nvSpPr>
        <p:spPr>
          <a:xfrm>
            <a:off x="685800" y="1207008"/>
            <a:ext cx="347472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Times New Roman" panose="02020603050405020304" pitchFamily="18" charset="0"/>
                <a:ea typeface="Calibri" pitchFamily="34" charset="-122"/>
                <a:cs typeface="Times New Roman" panose="02020603050405020304" pitchFamily="18" charset="0"/>
              </a:rPr>
              <a:t>Key Findings</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57200" y="1554480"/>
            <a:ext cx="3931920" cy="3291840"/>
          </a:xfrm>
          <a:prstGeom prst="rect">
            <a:avLst/>
          </a:prstGeom>
          <a:noFill/>
          <a:ln/>
        </p:spPr>
        <p:txBody>
          <a:bodyPr wrap="square" lIns="0" tIns="0" rIns="0" bIns="0" rtlCol="0" anchor="ctr"/>
          <a:lstStyle/>
          <a:p>
            <a:pPr marL="342900" indent="-342900" algn="just">
              <a:spcAft>
                <a:spcPts val="6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Dataset structure is strong: 541 records, 12 original columns, 187 smartphone models, 275 colour variants, zero missing values, and zero duplicate records after validation.</a:t>
            </a:r>
            <a:endParaRPr lang="en-US" sz="95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Price-related analysis shows that storage, RAM, front camera, rear camera and processor features have meaningful relationships with price, while market segmentation produces a right-skewed price distribution.</a:t>
            </a:r>
            <a:endParaRPr lang="en-US" sz="95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Statistical validation supports feature relevance through correlation analysis, categorical association testing, ANOVA-style comparisons, and group-level price testing across major specification categories.</a:t>
            </a:r>
            <a:endParaRPr lang="en-US" sz="95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LightGBM is selected by the notebook’s model ranking with R²=0.5641, RMSE=₹6,779, MAE=₹2,646, and MAPE=16.16%. XGBoost records the lowest MAPE at 10.25%.</a:t>
            </a:r>
            <a:endParaRPr lang="en-US" sz="95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Feature importance ranks Model and Processor highest, followed by Battery, Colour, Mobile Height, RAM, Memory, and camera megapixel features.</a:t>
            </a:r>
            <a:endParaRPr lang="en-US" sz="950" dirty="0">
              <a:latin typeface="Times New Roman" panose="02020603050405020304" pitchFamily="18" charset="0"/>
              <a:cs typeface="Times New Roman" panose="02020603050405020304" pitchFamily="18" charset="0"/>
            </a:endParaRPr>
          </a:p>
          <a:p>
            <a:pPr marL="342900" indent="-342900" algn="just">
              <a:spcAft>
                <a:spcPts val="400"/>
              </a:spcAft>
              <a:buSzPct val="100000"/>
              <a:buChar char="•"/>
            </a:pP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The future prediction module estimates a high-spec smartphone at ₹31,210.31 using 18 input features and 15 active engineered features.</a:t>
            </a:r>
            <a:endParaRPr lang="en-US" sz="950" dirty="0">
              <a:latin typeface="Times New Roman" panose="02020603050405020304" pitchFamily="18" charset="0"/>
              <a:cs typeface="Times New Roman" panose="02020603050405020304" pitchFamily="18" charset="0"/>
            </a:endParaRPr>
          </a:p>
        </p:txBody>
      </p:sp>
      <p:sp>
        <p:nvSpPr>
          <p:cNvPr id="9" name="Shape 7"/>
          <p:cNvSpPr/>
          <p:nvPr/>
        </p:nvSpPr>
        <p:spPr>
          <a:xfrm>
            <a:off x="4754880" y="1097280"/>
            <a:ext cx="4000500" cy="37490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4754880" y="1097280"/>
            <a:ext cx="4000500" cy="45720"/>
          </a:xfrm>
          <a:prstGeom prst="rect">
            <a:avLst/>
          </a:prstGeom>
          <a:solidFill>
            <a:srgbClr val="10B981"/>
          </a:solidFill>
          <a:ln/>
        </p:spPr>
        <p:txBody>
          <a:bodyPr/>
          <a:lstStyle/>
          <a:p>
            <a:endParaRPr lang="en-IN"/>
          </a:p>
        </p:txBody>
      </p:sp>
      <p:sp>
        <p:nvSpPr>
          <p:cNvPr id="11" name="Text 9"/>
          <p:cNvSpPr/>
          <p:nvPr/>
        </p:nvSpPr>
        <p:spPr>
          <a:xfrm>
            <a:off x="4983480" y="1207008"/>
            <a:ext cx="3474720" cy="274320"/>
          </a:xfrm>
          <a:prstGeom prst="rect">
            <a:avLst/>
          </a:prstGeom>
          <a:noFill/>
          <a:ln/>
        </p:spPr>
        <p:txBody>
          <a:bodyPr wrap="square" lIns="0" tIns="0" rIns="0" bIns="0" rtlCol="0" anchor="ctr"/>
          <a:lstStyle/>
          <a:p>
            <a:pPr marL="0" indent="0" algn="ctr">
              <a:buNone/>
            </a:pPr>
            <a:r>
              <a:rPr lang="en-US" sz="1300" b="1" dirty="0">
                <a:solidFill>
                  <a:srgbClr val="1E293B"/>
                </a:solidFill>
                <a:latin typeface="Times New Roman" panose="02020603050405020304" pitchFamily="18" charset="0"/>
                <a:ea typeface="Calibri" pitchFamily="34" charset="-122"/>
                <a:cs typeface="Times New Roman" panose="02020603050405020304" pitchFamily="18" charset="0"/>
              </a:rPr>
              <a:t>Strategic Recommendations</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4773168" y="1554480"/>
            <a:ext cx="3913632" cy="3291840"/>
          </a:xfrm>
          <a:prstGeom prst="rect">
            <a:avLst/>
          </a:prstGeom>
          <a:noFill/>
          <a:ln/>
        </p:spPr>
        <p:txBody>
          <a:bodyPr wrap="square" lIns="0" tIns="0" rIns="0" bIns="0" rtlCol="0" anchor="ctr"/>
          <a:lstStyle/>
          <a:p>
            <a:pPr marL="342900" indent="-342900" algn="just">
              <a:spcAft>
                <a:spcPts val="6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Pricing Strategy: Use model family, processor class, storage and RAM combinations as primary pricing levers when positioning devices across budget, mid-range and premium tiers.</a:t>
            </a:r>
            <a:endParaRPr lang="en-US" sz="96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Automated Pricing: Deploy the LightGBM model as a decision-support tool for early price estimation, then monitor percentage errors and benchmark against XGBoost for MAPE-sensitive use cases.</a:t>
            </a:r>
            <a:endParaRPr lang="en-US" sz="96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Product Development: Prioritize processor tier, memory/storage configuration, battery, camera package and form-factor decisions because these features carry high predictive importance.</a:t>
            </a:r>
            <a:endParaRPr lang="en-US" sz="96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Market Positioning: Maintain strong mid-range offerings while using premium configurations—higher RAM, larger storage and stronger processors—to justify higher price bands.</a:t>
            </a:r>
            <a:endParaRPr lang="en-US" sz="960" dirty="0">
              <a:latin typeface="Times New Roman" panose="02020603050405020304" pitchFamily="18" charset="0"/>
              <a:cs typeface="Times New Roman" panose="02020603050405020304" pitchFamily="18" charset="0"/>
            </a:endParaRPr>
          </a:p>
          <a:p>
            <a:pPr marL="342900" indent="-342900" algn="just">
              <a:spcAft>
                <a:spcPts val="6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Business Intelligence: Use dashboards and correlation views for ongoing monitoring of specification-price relationships, segment mix, and product portfolio competitiveness.</a:t>
            </a:r>
            <a:endParaRPr lang="en-US" sz="960" dirty="0">
              <a:latin typeface="Times New Roman" panose="02020603050405020304" pitchFamily="18" charset="0"/>
              <a:cs typeface="Times New Roman" panose="02020603050405020304" pitchFamily="18" charset="0"/>
            </a:endParaRPr>
          </a:p>
          <a:p>
            <a:pPr marL="342900" indent="-342900" algn="just">
              <a:spcAft>
                <a:spcPts val="400"/>
              </a:spcAft>
              <a:buSzPct val="100000"/>
              <a:buChar char="•"/>
            </a:pPr>
            <a:r>
              <a:rPr lang="en-US" sz="960" dirty="0">
                <a:solidFill>
                  <a:srgbClr val="64748B"/>
                </a:solidFill>
                <a:latin typeface="Times New Roman" panose="02020603050405020304" pitchFamily="18" charset="0"/>
                <a:ea typeface="Calibri" pitchFamily="34" charset="-122"/>
                <a:cs typeface="Times New Roman" panose="02020603050405020304" pitchFamily="18" charset="0"/>
              </a:rPr>
              <a:t>Scalability: Retrain the pipeline with newer launches, competitor prices, promotion signals and customer feedback to improve model reliability as the smartphone market evolves.</a:t>
            </a:r>
            <a:endParaRPr lang="en-US" sz="96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1371600" y="-1371600"/>
            <a:ext cx="3657600" cy="3657600"/>
          </a:xfrm>
          <a:prstGeom prst="ellipse">
            <a:avLst/>
          </a:prstGeom>
          <a:solidFill>
            <a:srgbClr val="1E2761">
              <a:alpha val="60000"/>
            </a:srgbClr>
          </a:solidFill>
          <a:ln/>
        </p:spPr>
        <p:txBody>
          <a:bodyPr/>
          <a:lstStyle/>
          <a:p>
            <a:endParaRPr lang="en-IN"/>
          </a:p>
        </p:txBody>
      </p:sp>
      <p:sp>
        <p:nvSpPr>
          <p:cNvPr id="3" name="Shape 1"/>
          <p:cNvSpPr/>
          <p:nvPr/>
        </p:nvSpPr>
        <p:spPr>
          <a:xfrm>
            <a:off x="6858000" y="3200400"/>
            <a:ext cx="3657600" cy="3657600"/>
          </a:xfrm>
          <a:prstGeom prst="ellipse">
            <a:avLst/>
          </a:prstGeom>
          <a:solidFill>
            <a:srgbClr val="1E2761">
              <a:alpha val="60000"/>
            </a:srgbClr>
          </a:solidFill>
          <a:ln/>
        </p:spPr>
        <p:txBody>
          <a:bodyPr/>
          <a:lstStyle/>
          <a:p>
            <a:endParaRPr lang="en-IN"/>
          </a:p>
        </p:txBody>
      </p:sp>
      <p:sp>
        <p:nvSpPr>
          <p:cNvPr id="5" name="Text 2"/>
          <p:cNvSpPr/>
          <p:nvPr/>
        </p:nvSpPr>
        <p:spPr>
          <a:xfrm>
            <a:off x="0" y="1463040"/>
            <a:ext cx="9144000" cy="82296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6" name="Shape 3"/>
          <p:cNvSpPr/>
          <p:nvPr/>
        </p:nvSpPr>
        <p:spPr>
          <a:xfrm>
            <a:off x="3657600" y="2377440"/>
            <a:ext cx="1828800" cy="0"/>
          </a:xfrm>
          <a:prstGeom prst="line">
            <a:avLst/>
          </a:prstGeom>
          <a:noFill/>
          <a:ln w="25400">
            <a:solidFill>
              <a:srgbClr val="0891B2"/>
            </a:solidFill>
            <a:prstDash val="solid"/>
          </a:ln>
        </p:spPr>
        <p:txBody>
          <a:bodyPr/>
          <a:lstStyle/>
          <a:p>
            <a:endParaRPr lang="en-IN"/>
          </a:p>
        </p:txBody>
      </p:sp>
      <p:sp>
        <p:nvSpPr>
          <p:cNvPr id="8" name="Text 5"/>
          <p:cNvSpPr/>
          <p:nvPr/>
        </p:nvSpPr>
        <p:spPr>
          <a:xfrm>
            <a:off x="0" y="3291840"/>
            <a:ext cx="9144000" cy="32004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Smartphone Pricing Analytics  |  Prepared by Riya Goel</a:t>
            </a:r>
            <a:endParaRPr lang="en-US" sz="1000" dirty="0"/>
          </a:p>
        </p:txBody>
      </p:sp>
      <p:sp>
        <p:nvSpPr>
          <p:cNvPr id="9" name="Text 6"/>
          <p:cNvSpPr/>
          <p:nvPr/>
        </p:nvSpPr>
        <p:spPr>
          <a:xfrm>
            <a:off x="0" y="3749040"/>
            <a:ext cx="9144000" cy="548640"/>
          </a:xfrm>
          <a:prstGeom prst="rect">
            <a:avLst/>
          </a:prstGeom>
          <a:noFill/>
          <a:ln/>
        </p:spPr>
        <p:txBody>
          <a:bodyPr wrap="square" rtlCol="0" anchor="ctr"/>
          <a:lstStyle/>
          <a:p>
            <a:pPr marL="0" indent="0" algn="ctr">
              <a:spcAft>
                <a:spcPts val="400"/>
              </a:spcAft>
              <a:buNone/>
            </a:pPr>
            <a:r>
              <a:rPr lang="en-US" sz="900" dirty="0">
                <a:solidFill>
                  <a:srgbClr val="94A3B8"/>
                </a:solidFill>
                <a:latin typeface="Calibri" pitchFamily="34" charset="0"/>
                <a:ea typeface="Calibri" pitchFamily="34" charset="-122"/>
                <a:cs typeface="Calibri" pitchFamily="34" charset="-120"/>
              </a:rPr>
              <a:t>541 Records  |  187 Models  |  6 ML Models  |  LightGBM R² = 0.5641  |  Model &amp; Processor = Top Drivers</a:t>
            </a:r>
            <a:endParaRPr lang="en-US" sz="900" dirty="0"/>
          </a:p>
          <a:p>
            <a:pPr marL="0" indent="0" algn="ctr">
              <a:buNone/>
            </a:pPr>
            <a:r>
              <a:rPr lang="en-US" sz="900" dirty="0">
                <a:solidFill>
                  <a:srgbClr val="94A3B8"/>
                </a:solidFill>
                <a:latin typeface="Calibri" pitchFamily="34" charset="0"/>
                <a:ea typeface="Calibri" pitchFamily="34" charset="-122"/>
                <a:cs typeface="Calibri" pitchFamily="34" charset="-120"/>
              </a:rPr>
              <a:t>Python  |  Statistical Analysis  |  Data Visualization  |  Machine Learning  |  Predictive Analytics</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648</TotalTime>
  <Words>3907</Words>
  <Application>Microsoft Office PowerPoint</Application>
  <PresentationFormat>On-screen Show (16:9)</PresentationFormat>
  <Paragraphs>420</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Smartphone Pricing Analytics</dc:title>
  <dc:subject>PptxGenJS Presentation</dc:subject>
  <dc:creator>Riya Goel</dc:creator>
  <cp:lastModifiedBy>Riya Goel (MSc Business Analytics FT)</cp:lastModifiedBy>
  <cp:revision>8</cp:revision>
  <dcterms:created xsi:type="dcterms:W3CDTF">2026-07-02T12:32:15Z</dcterms:created>
  <dcterms:modified xsi:type="dcterms:W3CDTF">2026-07-08T10:36:25Z</dcterms:modified>
</cp:coreProperties>
</file>